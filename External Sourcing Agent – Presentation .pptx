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5143500" cx="9144000"/>
  <p:notesSz cx="6858000" cy="9144000"/>
  <p:embeddedFontLst>
    <p:embeddedFont>
      <p:font typeface="Inter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D5EC83-102E-48E2-B518-281E1677A4E8}">
  <a:tblStyle styleId="{B8D5EC83-102E-48E2-B518-281E1677A4E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bold.fntdata"/><Relationship Id="rId11" Type="http://schemas.openxmlformats.org/officeDocument/2006/relationships/slide" Target="slides/slide5.xml"/><Relationship Id="rId22" Type="http://schemas.openxmlformats.org/officeDocument/2006/relationships/font" Target="fonts/Inter-boldItalic.fntdata"/><Relationship Id="rId10" Type="http://schemas.openxmlformats.org/officeDocument/2006/relationships/slide" Target="slides/slide4.xml"/><Relationship Id="rId21" Type="http://schemas.openxmlformats.org/officeDocument/2006/relationships/font" Target="fonts/Inter-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font" Target="fonts/Inter-regular.fntdata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SLIDES_API185504233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SLIDES_API185504233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SLIDES_API764163085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SLIDES_API764163085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SLIDES_API764163085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SLIDES_API764163085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SLIDES_API764163085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SLIDES_API764163085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SLIDES_API31507545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SLIDES_API31507545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SLIDES_API2021327066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SLIDES_API202132706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SLIDES_API2021327066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SLIDES_API2021327066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SLIDES_API31507545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SLIDES_API31507545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SLIDES_API31507545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SLIDES_API31507545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SLIDES_API31507545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SLIDES_API31507545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SLIDES_API180415701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SLIDES_API180415701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800"/>
              <a:buNone/>
              <a:defRPr sz="2800">
                <a:solidFill>
                  <a:srgbClr val="5A627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800"/>
              <a:buNone/>
              <a:defRPr sz="2800">
                <a:solidFill>
                  <a:srgbClr val="5A627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800"/>
              <a:buNone/>
              <a:defRPr sz="2800">
                <a:solidFill>
                  <a:srgbClr val="5A627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800"/>
              <a:buNone/>
              <a:defRPr sz="2800">
                <a:solidFill>
                  <a:srgbClr val="5A627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800"/>
              <a:buNone/>
              <a:defRPr sz="2800">
                <a:solidFill>
                  <a:srgbClr val="5A627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800"/>
              <a:buNone/>
              <a:defRPr sz="2800">
                <a:solidFill>
                  <a:srgbClr val="5A627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800"/>
              <a:buNone/>
              <a:defRPr sz="2800">
                <a:solidFill>
                  <a:srgbClr val="5A627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800"/>
              <a:buNone/>
              <a:defRPr sz="2800">
                <a:solidFill>
                  <a:srgbClr val="5A627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800"/>
              <a:buNone/>
              <a:defRPr sz="2800">
                <a:solidFill>
                  <a:srgbClr val="5A6270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●"/>
              <a:defRPr>
                <a:solidFill>
                  <a:srgbClr val="5A6270"/>
                </a:solidFill>
              </a:defRPr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○"/>
              <a:defRPr>
                <a:solidFill>
                  <a:srgbClr val="5A6270"/>
                </a:solidFill>
              </a:defRPr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■"/>
              <a:defRPr>
                <a:solidFill>
                  <a:srgbClr val="5A6270"/>
                </a:solidFill>
              </a:defRPr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●"/>
              <a:defRPr>
                <a:solidFill>
                  <a:srgbClr val="5A6270"/>
                </a:solidFill>
              </a:defRPr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○"/>
              <a:defRPr>
                <a:solidFill>
                  <a:srgbClr val="5A6270"/>
                </a:solidFill>
              </a:defRPr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■"/>
              <a:defRPr>
                <a:solidFill>
                  <a:srgbClr val="5A6270"/>
                </a:solidFill>
              </a:defRPr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●"/>
              <a:defRPr>
                <a:solidFill>
                  <a:srgbClr val="5A6270"/>
                </a:solidFill>
              </a:defRPr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○"/>
              <a:defRPr>
                <a:solidFill>
                  <a:srgbClr val="5A6270"/>
                </a:solidFill>
              </a:defRPr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■"/>
              <a:defRPr>
                <a:solidFill>
                  <a:srgbClr val="5A6270"/>
                </a:solidFill>
              </a:defRPr>
            </a:lvl9pPr>
          </a:lstStyle>
          <a:p/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400"/>
              <a:buChar char="●"/>
              <a:defRPr sz="1400">
                <a:solidFill>
                  <a:srgbClr val="5A6270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○"/>
              <a:defRPr sz="1200">
                <a:solidFill>
                  <a:srgbClr val="5A6270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■"/>
              <a:defRPr sz="1200">
                <a:solidFill>
                  <a:srgbClr val="5A6270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●"/>
              <a:defRPr sz="1200">
                <a:solidFill>
                  <a:srgbClr val="5A6270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○"/>
              <a:defRPr sz="1200">
                <a:solidFill>
                  <a:srgbClr val="5A6270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■"/>
              <a:defRPr sz="1200">
                <a:solidFill>
                  <a:srgbClr val="5A6270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●"/>
              <a:defRPr sz="1200">
                <a:solidFill>
                  <a:srgbClr val="5A6270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○"/>
              <a:defRPr sz="1200">
                <a:solidFill>
                  <a:srgbClr val="5A6270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■"/>
              <a:defRPr sz="1200">
                <a:solidFill>
                  <a:srgbClr val="5A6270"/>
                </a:solidFill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400"/>
              <a:buChar char="●"/>
              <a:defRPr sz="1400">
                <a:solidFill>
                  <a:srgbClr val="5A6270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○"/>
              <a:defRPr sz="1200">
                <a:solidFill>
                  <a:srgbClr val="5A6270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■"/>
              <a:defRPr sz="1200">
                <a:solidFill>
                  <a:srgbClr val="5A6270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●"/>
              <a:defRPr sz="1200">
                <a:solidFill>
                  <a:srgbClr val="5A6270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○"/>
              <a:defRPr sz="1200">
                <a:solidFill>
                  <a:srgbClr val="5A6270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■"/>
              <a:defRPr sz="1200">
                <a:solidFill>
                  <a:srgbClr val="5A6270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●"/>
              <a:defRPr sz="1200">
                <a:solidFill>
                  <a:srgbClr val="5A6270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○"/>
              <a:defRPr sz="1200">
                <a:solidFill>
                  <a:srgbClr val="5A6270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■"/>
              <a:defRPr sz="1200">
                <a:solidFill>
                  <a:srgbClr val="5A6270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●"/>
              <a:defRPr sz="1200">
                <a:solidFill>
                  <a:srgbClr val="5A6270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○"/>
              <a:defRPr sz="1200">
                <a:solidFill>
                  <a:srgbClr val="5A6270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■"/>
              <a:defRPr sz="1200">
                <a:solidFill>
                  <a:srgbClr val="5A6270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●"/>
              <a:defRPr sz="1200">
                <a:solidFill>
                  <a:srgbClr val="5A6270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○"/>
              <a:defRPr sz="1200">
                <a:solidFill>
                  <a:srgbClr val="5A6270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■"/>
              <a:defRPr sz="1200">
                <a:solidFill>
                  <a:srgbClr val="5A6270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●"/>
              <a:defRPr sz="1200">
                <a:solidFill>
                  <a:srgbClr val="5A6270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○"/>
              <a:defRPr sz="1200">
                <a:solidFill>
                  <a:srgbClr val="5A6270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■"/>
              <a:defRPr sz="1200">
                <a:solidFill>
                  <a:srgbClr val="5A6270"/>
                </a:solidFill>
              </a:defRPr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100"/>
              <a:buNone/>
              <a:defRPr sz="2100">
                <a:solidFill>
                  <a:srgbClr val="5A627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100"/>
              <a:buNone/>
              <a:defRPr sz="2100">
                <a:solidFill>
                  <a:srgbClr val="5A627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100"/>
              <a:buNone/>
              <a:defRPr sz="2100">
                <a:solidFill>
                  <a:srgbClr val="5A627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100"/>
              <a:buNone/>
              <a:defRPr sz="2100">
                <a:solidFill>
                  <a:srgbClr val="5A627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100"/>
              <a:buNone/>
              <a:defRPr sz="2100">
                <a:solidFill>
                  <a:srgbClr val="5A627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100"/>
              <a:buNone/>
              <a:defRPr sz="2100">
                <a:solidFill>
                  <a:srgbClr val="5A627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100"/>
              <a:buNone/>
              <a:defRPr sz="2100">
                <a:solidFill>
                  <a:srgbClr val="5A627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100"/>
              <a:buNone/>
              <a:defRPr sz="2100">
                <a:solidFill>
                  <a:srgbClr val="5A627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100"/>
              <a:buNone/>
              <a:defRPr sz="2100">
                <a:solidFill>
                  <a:srgbClr val="5A6270"/>
                </a:solidFill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●"/>
              <a:defRPr>
                <a:solidFill>
                  <a:srgbClr val="5A6270"/>
                </a:solidFill>
              </a:defRPr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○"/>
              <a:defRPr>
                <a:solidFill>
                  <a:srgbClr val="5A6270"/>
                </a:solidFill>
              </a:defRPr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■"/>
              <a:defRPr>
                <a:solidFill>
                  <a:srgbClr val="5A6270"/>
                </a:solidFill>
              </a:defRPr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●"/>
              <a:defRPr>
                <a:solidFill>
                  <a:srgbClr val="5A6270"/>
                </a:solidFill>
              </a:defRPr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○"/>
              <a:defRPr>
                <a:solidFill>
                  <a:srgbClr val="5A6270"/>
                </a:solidFill>
              </a:defRPr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■"/>
              <a:defRPr>
                <a:solidFill>
                  <a:srgbClr val="5A6270"/>
                </a:solidFill>
              </a:defRPr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●"/>
              <a:defRPr>
                <a:solidFill>
                  <a:srgbClr val="5A6270"/>
                </a:solidFill>
              </a:defRPr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○"/>
              <a:defRPr>
                <a:solidFill>
                  <a:srgbClr val="5A6270"/>
                </a:solidFill>
              </a:defRPr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■"/>
              <a:defRPr>
                <a:solidFill>
                  <a:srgbClr val="5A6270"/>
                </a:solidFill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 algn="ctr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●"/>
              <a:defRPr>
                <a:solidFill>
                  <a:srgbClr val="5A6270"/>
                </a:solidFill>
              </a:defRPr>
            </a:lvl1pPr>
            <a:lvl2pPr indent="-330200" lvl="1" marL="914400" algn="ctr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○"/>
              <a:defRPr>
                <a:solidFill>
                  <a:srgbClr val="5A6270"/>
                </a:solidFill>
              </a:defRPr>
            </a:lvl2pPr>
            <a:lvl3pPr indent="-330200" lvl="2" marL="1371600" algn="ctr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■"/>
              <a:defRPr>
                <a:solidFill>
                  <a:srgbClr val="5A6270"/>
                </a:solidFill>
              </a:defRPr>
            </a:lvl3pPr>
            <a:lvl4pPr indent="-330200" lvl="3" marL="1828800" algn="ctr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●"/>
              <a:defRPr>
                <a:solidFill>
                  <a:srgbClr val="5A6270"/>
                </a:solidFill>
              </a:defRPr>
            </a:lvl4pPr>
            <a:lvl5pPr indent="-330200" lvl="4" marL="2286000" algn="ctr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○"/>
              <a:defRPr>
                <a:solidFill>
                  <a:srgbClr val="5A6270"/>
                </a:solidFill>
              </a:defRPr>
            </a:lvl5pPr>
            <a:lvl6pPr indent="-330200" lvl="5" marL="2743200" algn="ctr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■"/>
              <a:defRPr>
                <a:solidFill>
                  <a:srgbClr val="5A6270"/>
                </a:solidFill>
              </a:defRPr>
            </a:lvl6pPr>
            <a:lvl7pPr indent="-330200" lvl="6" marL="3200400" algn="ctr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●"/>
              <a:defRPr>
                <a:solidFill>
                  <a:srgbClr val="5A6270"/>
                </a:solidFill>
              </a:defRPr>
            </a:lvl7pPr>
            <a:lvl8pPr indent="-330200" lvl="7" marL="3657600" algn="ctr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○"/>
              <a:defRPr>
                <a:solidFill>
                  <a:srgbClr val="5A6270"/>
                </a:solidFill>
              </a:defRPr>
            </a:lvl8pPr>
            <a:lvl9pPr indent="-330200" lvl="8" marL="4114800" algn="ctr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■"/>
              <a:defRPr>
                <a:solidFill>
                  <a:srgbClr val="5A6270"/>
                </a:solidFill>
              </a:defRPr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2600"/>
              <a:buFont typeface="Inter"/>
              <a:buNone/>
              <a:defRPr b="1" sz="2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2600"/>
              <a:buFont typeface="Inter"/>
              <a:buNone/>
              <a:defRPr b="1" sz="2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2600"/>
              <a:buFont typeface="Inter"/>
              <a:buNone/>
              <a:defRPr b="1" sz="2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2600"/>
              <a:buFont typeface="Inter"/>
              <a:buNone/>
              <a:defRPr b="1" sz="2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2600"/>
              <a:buFont typeface="Inter"/>
              <a:buNone/>
              <a:defRPr b="1" sz="2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2600"/>
              <a:buFont typeface="Inter"/>
              <a:buNone/>
              <a:defRPr b="1" sz="2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2600"/>
              <a:buFont typeface="Inter"/>
              <a:buNone/>
              <a:defRPr b="1" sz="2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2600"/>
              <a:buFont typeface="Inter"/>
              <a:buNone/>
              <a:defRPr b="1" sz="2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2600"/>
              <a:buFont typeface="Inter"/>
              <a:buNone/>
              <a:defRPr b="1" sz="2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600"/>
              <a:buFont typeface="Inter"/>
              <a:buChar char="●"/>
              <a:defRPr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302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600"/>
              <a:buFont typeface="Inter"/>
              <a:buChar char="○"/>
              <a:defRPr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302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600"/>
              <a:buFont typeface="Inter"/>
              <a:buChar char="■"/>
              <a:defRPr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302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600"/>
              <a:buFont typeface="Inter"/>
              <a:buChar char="●"/>
              <a:defRPr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302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600"/>
              <a:buFont typeface="Inter"/>
              <a:buChar char="○"/>
              <a:defRPr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302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600"/>
              <a:buFont typeface="Inter"/>
              <a:buChar char="■"/>
              <a:defRPr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302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600"/>
              <a:buFont typeface="Inter"/>
              <a:buChar char="●"/>
              <a:defRPr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302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600"/>
              <a:buFont typeface="Inter"/>
              <a:buChar char="○"/>
              <a:defRPr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302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600"/>
              <a:buFont typeface="Inter"/>
              <a:buChar char="■"/>
              <a:defRPr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508000" y="114300"/>
            <a:ext cx="457200" cy="507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" name="Google Shape;10;p1"/>
          <p:cNvSpPr/>
          <p:nvPr/>
        </p:nvSpPr>
        <p:spPr>
          <a:xfrm>
            <a:off x="0" y="5092700"/>
            <a:ext cx="9144000" cy="507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ctrTitle"/>
          </p:nvPr>
        </p:nvSpPr>
        <p:spPr>
          <a:xfrm>
            <a:off x="508000" y="1524000"/>
            <a:ext cx="8127900" cy="88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External Sourcing Agent</a:t>
            </a:r>
            <a:endParaRPr sz="4000"/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508000" y="2540000"/>
            <a:ext cx="8127900" cy="88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1B1F24"/>
                </a:solidFill>
              </a:rPr>
              <a:t>Finding people is easy. Defending why they qualify is the engineering problem.</a:t>
            </a:r>
            <a:endParaRPr sz="1800">
              <a:solidFill>
                <a:srgbClr val="1B1F24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600"/>
              </a:spcAft>
              <a:buNone/>
            </a:pPr>
            <a:r>
              <a:rPr lang="en" sz="1300"/>
              <a:t>Data Engineer take-home · Tungsten Automation and Polish Rail Freight briefs</a:t>
            </a:r>
            <a:endParaRPr sz="1300"/>
          </a:p>
        </p:txBody>
      </p:sp>
      <p:sp>
        <p:nvSpPr>
          <p:cNvPr id="58" name="Google Shape;58;p13"/>
          <p:cNvSpPr/>
          <p:nvPr/>
        </p:nvSpPr>
        <p:spPr>
          <a:xfrm>
            <a:off x="508000" y="1371600"/>
            <a:ext cx="1016100" cy="636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 finds hundreds of plausible profiles; proving which ones qualify is the work</a:t>
            </a:r>
            <a:endParaRPr/>
          </a:p>
        </p:txBody>
      </p:sp>
      <p:sp>
        <p:nvSpPr>
          <p:cNvPr id="64" name="Google Shape;64;p14"/>
          <p:cNvSpPr txBox="1"/>
          <p:nvPr/>
        </p:nvSpPr>
        <p:spPr>
          <a:xfrm>
            <a:off x="508000" y="1193800"/>
            <a:ext cx="3683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TODAY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508000" y="1473200"/>
            <a:ext cx="3683100" cy="12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About half the experts on client calls are not in our database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700"/>
              </a:spcBef>
              <a:spcAft>
                <a:spcPts val="70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Researchers find them by hand on LinkedIn, late in the project, one search at a time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508000" y="2819400"/>
            <a:ext cx="3683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EVERY EXPERT RETURNED NEEDS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508000" y="3098800"/>
            <a:ext cx="3683100" cy="147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 relevant role and company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50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 public profile we can open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50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Evidence for why they fit the brief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500"/>
              </a:spcBef>
              <a:spcAft>
                <a:spcPts val="50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No excluded or ineligible employer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4699000" y="1193800"/>
            <a:ext cx="3683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TUNGSTEN RUN: FROM SEARCH HIT TO SHORTLIST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4699000" y="1549400"/>
            <a:ext cx="11685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294</a:t>
            </a:r>
            <a:endParaRPr b="1" sz="30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5867400" y="1549400"/>
            <a:ext cx="2514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candidates found by search</a:t>
            </a:r>
            <a:endParaRPr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14"/>
          <p:cNvSpPr/>
          <p:nvPr/>
        </p:nvSpPr>
        <p:spPr>
          <a:xfrm>
            <a:off x="4749800" y="2108200"/>
            <a:ext cx="3632100" cy="1269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4699000" y="2463800"/>
            <a:ext cx="11685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116</a:t>
            </a:r>
            <a:endParaRPr b="1" sz="30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867400" y="2463800"/>
            <a:ext cx="2514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passed verification in code</a:t>
            </a:r>
            <a:endParaRPr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4" name="Google Shape;74;p14"/>
          <p:cNvSpPr/>
          <p:nvPr/>
        </p:nvSpPr>
        <p:spPr>
          <a:xfrm>
            <a:off x="4749800" y="3022600"/>
            <a:ext cx="1433100" cy="1269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5" name="Google Shape;75;p14"/>
          <p:cNvSpPr txBox="1"/>
          <p:nvPr/>
        </p:nvSpPr>
        <p:spPr>
          <a:xfrm>
            <a:off x="4699000" y="3378200"/>
            <a:ext cx="11685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60</a:t>
            </a:r>
            <a:endParaRPr b="1" sz="30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5867400" y="3378200"/>
            <a:ext cx="2514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returned, 20 per group</a:t>
            </a:r>
            <a:endParaRPr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7" name="Google Shape;77;p14"/>
          <p:cNvSpPr/>
          <p:nvPr/>
        </p:nvSpPr>
        <p:spPr>
          <a:xfrm>
            <a:off x="4749800" y="3937000"/>
            <a:ext cx="741300" cy="1269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8" name="Google Shape;78;p14"/>
          <p:cNvSpPr txBox="1"/>
          <p:nvPr/>
        </p:nvSpPr>
        <p:spPr>
          <a:xfrm>
            <a:off x="4699000" y="4241800"/>
            <a:ext cx="3683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6 in 10 candidates that search finds fail the rules. Returning them would put ineligible people in front of a client.</a:t>
            </a:r>
            <a:endParaRPr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THE PROBLEM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Approach: hard rules run in code; the LLM judges only what code cannot</a:t>
            </a:r>
            <a:endParaRPr/>
          </a:p>
        </p:txBody>
      </p:sp>
      <p:sp>
        <p:nvSpPr>
          <p:cNvPr id="85" name="Google Shape;85;p15"/>
          <p:cNvSpPr/>
          <p:nvPr/>
        </p:nvSpPr>
        <p:spPr>
          <a:xfrm>
            <a:off x="508000" y="1219200"/>
            <a:ext cx="3962400" cy="26163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6" name="Google Shape;86;p15"/>
          <p:cNvSpPr/>
          <p:nvPr/>
        </p:nvSpPr>
        <p:spPr>
          <a:xfrm>
            <a:off x="508000" y="1219200"/>
            <a:ext cx="3962400" cy="50700"/>
          </a:xfrm>
          <a:prstGeom prst="rect">
            <a:avLst/>
          </a:prstGeom>
          <a:solidFill>
            <a:srgbClr val="8A929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685800" y="1371600"/>
            <a:ext cx="3683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CODE DECIDES: TESTABLE, SAME EVERY RUN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8" name="Google Shape;88;p15"/>
          <p:cNvSpPr txBox="1"/>
          <p:nvPr/>
        </p:nvSpPr>
        <p:spPr>
          <a:xfrm>
            <a:off x="685800" y="1676400"/>
            <a:ext cx="3683100" cy="21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Employment dates and departure windows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spcBef>
                <a:spcPts val="700"/>
              </a:spcBef>
              <a:spcAft>
                <a:spcPts val="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Exclusions, including the former name Kofax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spcBef>
                <a:spcPts val="700"/>
              </a:spcBef>
              <a:spcAft>
                <a:spcPts val="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Organisation matching ("Kofax India Pvt Ltd" counts as Kofax)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spcBef>
                <a:spcPts val="700"/>
              </a:spcBef>
              <a:spcAft>
                <a:spcPts val="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Merging the same person across sources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spcBef>
                <a:spcPts val="700"/>
              </a:spcBef>
              <a:spcAft>
                <a:spcPts val="70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Work history parsed from structured profile data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9" name="Google Shape;89;p15"/>
          <p:cNvSpPr/>
          <p:nvPr/>
        </p:nvSpPr>
        <p:spPr>
          <a:xfrm>
            <a:off x="4673600" y="1219200"/>
            <a:ext cx="3962400" cy="26163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0" name="Google Shape;90;p15"/>
          <p:cNvSpPr/>
          <p:nvPr/>
        </p:nvSpPr>
        <p:spPr>
          <a:xfrm>
            <a:off x="4673600" y="1219200"/>
            <a:ext cx="3962400" cy="507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1" name="Google Shape;91;p15"/>
          <p:cNvSpPr txBox="1"/>
          <p:nvPr/>
        </p:nvSpPr>
        <p:spPr>
          <a:xfrm>
            <a:off x="4851400" y="1371600"/>
            <a:ext cx="3683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THE LLM JUDGES (CLAUDE)</a:t>
            </a:r>
            <a:endParaRPr b="1" sz="12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2" name="Google Shape;92;p15"/>
          <p:cNvSpPr txBox="1"/>
          <p:nvPr/>
        </p:nvSpPr>
        <p:spPr>
          <a:xfrm>
            <a:off x="4851400" y="1676400"/>
            <a:ext cx="3683100" cy="21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Reads the brief into rules, each quoting the brief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spcBef>
                <a:spcPts val="700"/>
              </a:spcBef>
              <a:spcAft>
                <a:spcPts val="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Writes role words and discovery queries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spcBef>
                <a:spcPts val="700"/>
              </a:spcBef>
              <a:spcAft>
                <a:spcPts val="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Reads relevant pages for named people and customers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spcBef>
                <a:spcPts val="700"/>
              </a:spcBef>
              <a:spcAft>
                <a:spcPts val="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Checks requirements code cannot ("a product leader")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spcBef>
                <a:spcPts val="700"/>
              </a:spcBef>
              <a:spcAft>
                <a:spcPts val="70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Scores fit and writes the reason, citing evidence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3" name="Google Shape;93;p15"/>
          <p:cNvSpPr txBox="1"/>
          <p:nvPr/>
        </p:nvSpPr>
        <p:spPr>
          <a:xfrm>
            <a:off x="508000" y="3962400"/>
            <a:ext cx="8127900" cy="7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 hard rule rejects, and no score can rescue it:</a:t>
            </a: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 still at Tungsten or Kofax, left under 6 months ago, founder or C-level at a competitor. </a:t>
            </a: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 preference only changes the score:</a:t>
            </a: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 ideal titles, "ideally 8+ years".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4" name="Google Shape;94;p15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APPROACH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Discovery: the brief decides between two search strategies</a:t>
            </a:r>
            <a:endParaRPr/>
          </a:p>
        </p:txBody>
      </p:sp>
      <p:sp>
        <p:nvSpPr>
          <p:cNvPr id="100" name="Google Shape;100;p16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APPROACH · DISCOVERY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508000" y="1219200"/>
            <a:ext cx="3962400" cy="30861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508000" y="1219200"/>
            <a:ext cx="3962400" cy="507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3" name="Google Shape;103;p16"/>
          <p:cNvSpPr txBox="1"/>
          <p:nvPr/>
        </p:nvSpPr>
        <p:spPr>
          <a:xfrm>
            <a:off x="635000" y="1371600"/>
            <a:ext cx="3708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1  People first</a:t>
            </a:r>
            <a:endParaRPr b="1" sz="16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4" name="Google Shape;104;p16"/>
          <p:cNvSpPr txBox="1"/>
          <p:nvPr/>
        </p:nvSpPr>
        <p:spPr>
          <a:xfrm>
            <a:off x="635000" y="1727200"/>
            <a:ext cx="37083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WHEN</a:t>
            </a:r>
            <a:endParaRPr b="1" sz="10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5" name="Google Shape;105;p16"/>
          <p:cNvSpPr txBox="1"/>
          <p:nvPr/>
        </p:nvSpPr>
        <p:spPr>
          <a:xfrm>
            <a:off x="635000" y="1930400"/>
            <a:ext cx="37083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The brief names the organisations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6" name="Google Shape;106;p16"/>
          <p:cNvSpPr txBox="1"/>
          <p:nvPr/>
        </p:nvSpPr>
        <p:spPr>
          <a:xfrm>
            <a:off x="635000" y="2286000"/>
            <a:ext cx="37083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HOW</a:t>
            </a:r>
            <a:endParaRPr b="1" sz="10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7" name="Google Shape;107;p16"/>
          <p:cNvSpPr txBox="1"/>
          <p:nvPr/>
        </p:nvSpPr>
        <p:spPr>
          <a:xfrm>
            <a:off x="635000" y="2489200"/>
            <a:ext cx="3708300" cy="10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Google LinkedIn X-rays at each named organisation, sliced by departure quarter and job function, since each search returns about 10 profiles. Exa tops up short groups.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8" name="Google Shape;108;p16"/>
          <p:cNvSpPr txBox="1"/>
          <p:nvPr/>
        </p:nvSpPr>
        <p:spPr>
          <a:xfrm>
            <a:off x="635000" y="3632200"/>
            <a:ext cx="37083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USED FOR</a:t>
            </a:r>
            <a:endParaRPr b="1" sz="10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9" name="Google Shape;109;p16"/>
          <p:cNvSpPr txBox="1"/>
          <p:nvPr/>
        </p:nvSpPr>
        <p:spPr>
          <a:xfrm>
            <a:off x="635000" y="3835400"/>
            <a:ext cx="37083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Tungsten: former employees, competitors</a:t>
            </a:r>
            <a:endParaRPr b="1" sz="13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0" name="Google Shape;110;p16"/>
          <p:cNvSpPr/>
          <p:nvPr/>
        </p:nvSpPr>
        <p:spPr>
          <a:xfrm>
            <a:off x="4673600" y="1219200"/>
            <a:ext cx="3962400" cy="31497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1" name="Google Shape;111;p16"/>
          <p:cNvSpPr/>
          <p:nvPr/>
        </p:nvSpPr>
        <p:spPr>
          <a:xfrm>
            <a:off x="4673600" y="1219200"/>
            <a:ext cx="3962400" cy="507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4800600" y="1371600"/>
            <a:ext cx="3708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2  Companies, then people</a:t>
            </a:r>
            <a:endParaRPr b="1" sz="16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3" name="Google Shape;113;p16"/>
          <p:cNvSpPr txBox="1"/>
          <p:nvPr/>
        </p:nvSpPr>
        <p:spPr>
          <a:xfrm>
            <a:off x="4800600" y="1727200"/>
            <a:ext cx="37083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WHEN</a:t>
            </a:r>
            <a:endParaRPr b="1" sz="10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4" name="Google Shape;114;p16"/>
          <p:cNvSpPr txBox="1"/>
          <p:nvPr/>
        </p:nvSpPr>
        <p:spPr>
          <a:xfrm>
            <a:off x="4800600" y="1930400"/>
            <a:ext cx="37083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No organisations named in the brief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5" name="Google Shape;115;p16"/>
          <p:cNvSpPr txBox="1"/>
          <p:nvPr/>
        </p:nvSpPr>
        <p:spPr>
          <a:xfrm>
            <a:off x="4800600" y="2286000"/>
            <a:ext cx="37083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HOW</a:t>
            </a:r>
            <a:endParaRPr b="1" sz="10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4800600" y="2489200"/>
            <a:ext cx="3708300" cy="10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Find organisations first in case studies, press releases and registers, each with a quote that code checks. Then one X-ray per organisation, in batches of 10, until the group has enough.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7" name="Google Shape;117;p16"/>
          <p:cNvSpPr txBox="1"/>
          <p:nvPr/>
        </p:nvSpPr>
        <p:spPr>
          <a:xfrm>
            <a:off x="4800600" y="3632200"/>
            <a:ext cx="37083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USED FOR</a:t>
            </a:r>
            <a:endParaRPr b="1" sz="10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8" name="Google Shape;118;p16"/>
          <p:cNvSpPr txBox="1"/>
          <p:nvPr/>
        </p:nvSpPr>
        <p:spPr>
          <a:xfrm>
            <a:off x="4841550" y="3801275"/>
            <a:ext cx="37083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Tungsten: customers</a:t>
            </a:r>
            <a:endParaRPr b="1" sz="13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Polish rail: all three groups</a:t>
            </a:r>
            <a:endParaRPr b="1" sz="13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508000" y="4368800"/>
            <a:ext cx="7874100" cy="4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Both stop once a group has X qualified candidates: </a:t>
            </a: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ample gro</a:t>
            </a:r>
            <a:r>
              <a:rPr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ups stay cheap, thin groups keep searching. The parsed brief picks the strategy, so no brief needs its own code.</a:t>
            </a:r>
            <a:endParaRPr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Nine stages: code enforces the rules, the LLM reads language, and every stage can be inspected</a:t>
            </a:r>
            <a:endParaRPr/>
          </a:p>
        </p:txBody>
      </p:sp>
      <p:sp>
        <p:nvSpPr>
          <p:cNvPr id="125" name="Google Shape;125;p17"/>
          <p:cNvSpPr/>
          <p:nvPr/>
        </p:nvSpPr>
        <p:spPr>
          <a:xfrm>
            <a:off x="508000" y="1143000"/>
            <a:ext cx="2489100" cy="30987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6" name="Google Shape;126;p17"/>
          <p:cNvSpPr txBox="1"/>
          <p:nvPr/>
        </p:nvSpPr>
        <p:spPr>
          <a:xfrm>
            <a:off x="635000" y="1244600"/>
            <a:ext cx="2286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UNDERSTAND THE BRIEF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7" name="Google Shape;127;p17"/>
          <p:cNvSpPr/>
          <p:nvPr/>
        </p:nvSpPr>
        <p:spPr>
          <a:xfrm>
            <a:off x="609600" y="1600200"/>
            <a:ext cx="279300" cy="279300"/>
          </a:xfrm>
          <a:prstGeom prst="ellipse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" name="Google Shape;128;p17"/>
          <p:cNvSpPr txBox="1"/>
          <p:nvPr/>
        </p:nvSpPr>
        <p:spPr>
          <a:xfrm>
            <a:off x="939800" y="1574800"/>
            <a:ext cx="2031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Brief parsing</a:t>
            </a:r>
            <a:endParaRPr b="1"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1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Groups, aliases, date windows, each quoted</a:t>
            </a:r>
            <a:endParaRPr sz="11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609600" y="2260600"/>
            <a:ext cx="279300" cy="279300"/>
          </a:xfrm>
          <a:prstGeom prst="ellipse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0" name="Google Shape;130;p17"/>
          <p:cNvSpPr txBox="1"/>
          <p:nvPr/>
        </p:nvSpPr>
        <p:spPr>
          <a:xfrm>
            <a:off x="939800" y="2235200"/>
            <a:ext cx="2031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Query generation</a:t>
            </a:r>
            <a:endParaRPr b="1"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1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Code templates plus LLM role words</a:t>
            </a:r>
            <a:endParaRPr sz="11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3048000" y="2527300"/>
            <a:ext cx="228600" cy="3303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AA1A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2" name="Google Shape;132;p17"/>
          <p:cNvSpPr/>
          <p:nvPr/>
        </p:nvSpPr>
        <p:spPr>
          <a:xfrm>
            <a:off x="3327400" y="1143000"/>
            <a:ext cx="2489100" cy="30987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3" name="Google Shape;133;p17"/>
          <p:cNvSpPr txBox="1"/>
          <p:nvPr/>
        </p:nvSpPr>
        <p:spPr>
          <a:xfrm>
            <a:off x="3454400" y="1244600"/>
            <a:ext cx="2286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FIND PEOPLE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3429000" y="1600200"/>
            <a:ext cx="279300" cy="279300"/>
          </a:xfrm>
          <a:prstGeom prst="ellipse">
            <a:avLst/>
          </a:prstGeom>
          <a:solidFill>
            <a:srgbClr val="6B72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5" name="Google Shape;135;p17"/>
          <p:cNvSpPr txBox="1"/>
          <p:nvPr/>
        </p:nvSpPr>
        <p:spPr>
          <a:xfrm>
            <a:off x="3759200" y="1574800"/>
            <a:ext cx="2031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Search</a:t>
            </a:r>
            <a:endParaRPr b="1"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1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Google (Serper) and Exa in parallel</a:t>
            </a:r>
            <a:endParaRPr sz="11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3429000" y="2260600"/>
            <a:ext cx="279300" cy="279300"/>
          </a:xfrm>
          <a:prstGeom prst="ellipse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7" name="Google Shape;137;p17"/>
          <p:cNvSpPr txBox="1"/>
          <p:nvPr/>
        </p:nvSpPr>
        <p:spPr>
          <a:xfrm>
            <a:off x="3759200" y="2235200"/>
            <a:ext cx="2031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Extract candidates</a:t>
            </a:r>
            <a:endParaRPr b="1"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1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Code parses profiles; LLM reads pages</a:t>
            </a:r>
            <a:endParaRPr sz="11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3429000" y="2921000"/>
            <a:ext cx="279300" cy="279300"/>
          </a:xfrm>
          <a:prstGeom prst="ellipse">
            <a:avLst/>
          </a:prstGeom>
          <a:solidFill>
            <a:srgbClr val="6B72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3759200" y="2895600"/>
            <a:ext cx="2031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People per company</a:t>
            </a:r>
            <a:endParaRPr b="1"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1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One X-ray per customer or operator</a:t>
            </a:r>
            <a:endParaRPr sz="11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3429000" y="3581400"/>
            <a:ext cx="279300" cy="279300"/>
          </a:xfrm>
          <a:prstGeom prst="ellipse">
            <a:avLst/>
          </a:prstGeom>
          <a:solidFill>
            <a:srgbClr val="6B72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1" name="Google Shape;141;p17"/>
          <p:cNvSpPr txBox="1"/>
          <p:nvPr/>
        </p:nvSpPr>
        <p:spPr>
          <a:xfrm>
            <a:off x="3759200" y="3556000"/>
            <a:ext cx="2031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Profile lookup</a:t>
            </a:r>
            <a:endParaRPr b="1"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1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Name and employer must both match</a:t>
            </a:r>
            <a:endParaRPr sz="11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5867400" y="2527300"/>
            <a:ext cx="228600" cy="3303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AA1A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6146800" y="1143000"/>
            <a:ext cx="2489100" cy="30987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4" name="Google Shape;144;p17"/>
          <p:cNvSpPr txBox="1"/>
          <p:nvPr/>
        </p:nvSpPr>
        <p:spPr>
          <a:xfrm>
            <a:off x="6273800" y="1244600"/>
            <a:ext cx="2286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DECIDE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6248400" y="1600200"/>
            <a:ext cx="279300" cy="279300"/>
          </a:xfrm>
          <a:prstGeom prst="ellipse">
            <a:avLst/>
          </a:prstGeom>
          <a:solidFill>
            <a:srgbClr val="6B72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6" name="Google Shape;146;p17"/>
          <p:cNvSpPr txBox="1"/>
          <p:nvPr/>
        </p:nvSpPr>
        <p:spPr>
          <a:xfrm>
            <a:off x="6578600" y="1574800"/>
            <a:ext cx="2031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Entity resolution</a:t>
            </a:r>
            <a:endParaRPr b="1"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1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A name alone never merges two people</a:t>
            </a:r>
            <a:endParaRPr sz="11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6248400" y="2260600"/>
            <a:ext cx="279300" cy="279300"/>
          </a:xfrm>
          <a:prstGeom prst="ellipse">
            <a:avLst/>
          </a:prstGeom>
          <a:solidFill>
            <a:srgbClr val="6B72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8" name="Google Shape;148;p17"/>
          <p:cNvSpPr txBox="1"/>
          <p:nvPr/>
        </p:nvSpPr>
        <p:spPr>
          <a:xfrm>
            <a:off x="6578600" y="2235200"/>
            <a:ext cx="2031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Verification</a:t>
            </a:r>
            <a:endParaRPr b="1"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1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Code only: dates, exclusions, roles</a:t>
            </a:r>
            <a:endParaRPr sz="11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6248400" y="2921000"/>
            <a:ext cx="279300" cy="279300"/>
          </a:xfrm>
          <a:prstGeom prst="ellipse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6578600" y="2895600"/>
            <a:ext cx="2031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Ranking</a:t>
            </a:r>
            <a:endParaRPr b="1"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1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LLM judges fit; code weights, top 20</a:t>
            </a:r>
            <a:endParaRPr sz="11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1" name="Google Shape;151;p17"/>
          <p:cNvSpPr txBox="1"/>
          <p:nvPr/>
        </p:nvSpPr>
        <p:spPr>
          <a:xfrm>
            <a:off x="508000" y="4318000"/>
            <a:ext cx="59181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Every stage's file is a resume point: fix the rules, queries or customer list without paying again.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6629400" y="4381500"/>
            <a:ext cx="126900" cy="126900"/>
          </a:xfrm>
          <a:prstGeom prst="ellipse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6832600" y="43180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LLM involved</a:t>
            </a:r>
            <a:endParaRPr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6629400" y="4597400"/>
            <a:ext cx="126900" cy="126900"/>
          </a:xfrm>
          <a:prstGeom prst="ellipse">
            <a:avLst/>
          </a:prstGeom>
          <a:solidFill>
            <a:srgbClr val="6B72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6832600" y="45466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Code only</a:t>
            </a:r>
            <a:endParaRPr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6" name="Google Shape;156;p17"/>
          <p:cNvSpPr txBox="1"/>
          <p:nvPr/>
        </p:nvSpPr>
        <p:spPr>
          <a:xfrm>
            <a:off x="558800" y="1600200"/>
            <a:ext cx="3810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558800" y="2260600"/>
            <a:ext cx="3810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8" name="Google Shape;158;p17"/>
          <p:cNvSpPr txBox="1"/>
          <p:nvPr/>
        </p:nvSpPr>
        <p:spPr>
          <a:xfrm>
            <a:off x="3378200" y="1600200"/>
            <a:ext cx="3810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3378200" y="2260600"/>
            <a:ext cx="3810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17"/>
          <p:cNvSpPr txBox="1"/>
          <p:nvPr/>
        </p:nvSpPr>
        <p:spPr>
          <a:xfrm>
            <a:off x="3378200" y="2921000"/>
            <a:ext cx="3810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5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1" name="Google Shape;161;p17"/>
          <p:cNvSpPr txBox="1"/>
          <p:nvPr/>
        </p:nvSpPr>
        <p:spPr>
          <a:xfrm>
            <a:off x="3378200" y="3581400"/>
            <a:ext cx="3810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6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6197600" y="1600200"/>
            <a:ext cx="3810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3" name="Google Shape;163;p17"/>
          <p:cNvSpPr txBox="1"/>
          <p:nvPr/>
        </p:nvSpPr>
        <p:spPr>
          <a:xfrm>
            <a:off x="6197600" y="2260600"/>
            <a:ext cx="3810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8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4" name="Google Shape;164;p17"/>
          <p:cNvSpPr txBox="1"/>
          <p:nvPr/>
        </p:nvSpPr>
        <p:spPr>
          <a:xfrm>
            <a:off x="6197600" y="2921000"/>
            <a:ext cx="3810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9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5" name="Google Shape;165;p17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HOW IT WORKS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8"/>
          <p:cNvSpPr txBox="1"/>
          <p:nvPr>
            <p:ph type="title"/>
          </p:nvPr>
        </p:nvSpPr>
        <p:spPr>
          <a:xfrm>
            <a:off x="508000" y="228600"/>
            <a:ext cx="8195700" cy="56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Each way the pipeline could lie to us has a guard</a:t>
            </a:r>
            <a:endParaRPr/>
          </a:p>
        </p:txBody>
      </p:sp>
      <p:graphicFrame>
        <p:nvGraphicFramePr>
          <p:cNvPr id="171" name="Google Shape;171;p18"/>
          <p:cNvGraphicFramePr/>
          <p:nvPr/>
        </p:nvGraphicFramePr>
        <p:xfrm>
          <a:off x="508000" y="79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{B8D5EC83-102E-48E2-B518-281E1677A4E8}</a:tableStyleId>
              </a:tblPr>
              <a:tblGrid>
                <a:gridCol w="2709325"/>
                <a:gridCol w="2709325"/>
                <a:gridCol w="2709325"/>
              </a:tblGrid>
              <a:tr h="508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5A627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Risk</a:t>
                      </a:r>
                      <a:endParaRPr b="1" sz="1200">
                        <a:solidFill>
                          <a:srgbClr val="5A627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5A627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Guard</a:t>
                      </a:r>
                      <a:endParaRPr b="1" sz="1200">
                        <a:solidFill>
                          <a:srgbClr val="5A627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5A627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How it was checked</a:t>
                      </a:r>
                      <a:endParaRPr b="1" sz="1200">
                        <a:solidFill>
                          <a:srgbClr val="5A627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508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Made-up people</a:t>
                      </a:r>
                      <a:endParaRPr b="1"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Every person is a real search hit; quotes must be found in the source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Reviewer opened every link in the sample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508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Stale roles</a:t>
                      </a:r>
                      <a:endParaRPr b="1"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Status from dated work history; a headline "at Kofax" still fails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Tests for stale headlines and window edges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508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Name collisions</a:t>
                      </a:r>
                      <a:endParaRPr b="1"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 name never merges alone: same URL or a shared employer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16 merged on Tungsten; 0 duplicates left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508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Renamed companies</a:t>
                      </a:r>
                      <a:endParaRPr b="1"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Brief's aliases matched as whole words ("Kofax India Pvt Ltd")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 exclusion violations in the sample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508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Never used the product</a:t>
                      </a:r>
                      <a:endParaRPr b="1"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 source must name the product; the LLM checks hands-on use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27 customer staff rejected on Tungsten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508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Thin groups padded</a:t>
                      </a:r>
                      <a:endParaRPr b="1"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Only "meets" is returned; "unclear" goes to a review table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Polish planners: 0 returned, 8 for review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</a:tbl>
          </a:graphicData>
        </a:graphic>
      </p:graphicFrame>
      <p:sp>
        <p:nvSpPr>
          <p:cNvPr id="172" name="Google Shape;172;p18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HOW IT WORKS · VERIFICATION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9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Tungsten: 60 experts returned, and all 60 passed hand review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508000" y="1117600"/>
            <a:ext cx="5079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Candidates per group, Tungsten run of 11 Oct 2026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79" name="Google Shape;179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000" y="1397000"/>
            <a:ext cx="5079999" cy="3327399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9"/>
          <p:cNvSpPr txBox="1"/>
          <p:nvPr/>
        </p:nvSpPr>
        <p:spPr>
          <a:xfrm>
            <a:off x="5969000" y="834150"/>
            <a:ext cx="2667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60 of 60</a:t>
            </a:r>
            <a:endParaRPr b="1" sz="34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1" name="Google Shape;181;p19"/>
          <p:cNvSpPr txBox="1"/>
          <p:nvPr/>
        </p:nvSpPr>
        <p:spPr>
          <a:xfrm>
            <a:off x="5969000" y="1511400"/>
            <a:ext cx="2667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experts valid on hand review</a:t>
            </a:r>
            <a:endParaRPr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2" name="Google Shape;182;p19"/>
          <p:cNvSpPr txBox="1"/>
          <p:nvPr/>
        </p:nvSpPr>
        <p:spPr>
          <a:xfrm>
            <a:off x="5969000" y="2010925"/>
            <a:ext cx="26670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300"/>
              <a:buFont typeface="Inter"/>
              <a:buChar char="●"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One reviewer opened every profile and evidence link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600"/>
              </a:spcBef>
              <a:spcAft>
                <a:spcPts val="0"/>
              </a:spcAft>
              <a:buClr>
                <a:srgbClr val="1B1F24"/>
              </a:buClr>
              <a:buSzPts val="1300"/>
              <a:buFont typeface="Inter"/>
              <a:buChar char="●"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0 exclusion violations, 0 duplicates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600"/>
              </a:spcBef>
              <a:spcAft>
                <a:spcPts val="0"/>
              </a:spcAft>
              <a:buClr>
                <a:srgbClr val="1B1F24"/>
              </a:buClr>
              <a:buSzPts val="1300"/>
              <a:buFont typeface="Inter"/>
              <a:buChar char="●"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not 100%; no recall claimed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600"/>
              </a:spcBef>
              <a:spcAft>
                <a:spcPts val="600"/>
              </a:spcAft>
              <a:buClr>
                <a:srgbClr val="1B1F24"/>
              </a:buClr>
              <a:buSzPts val="1300"/>
              <a:buFont typeface="Inter"/>
              <a:buChar char="●"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244 offline tests on the rules; 16 borderline people kept for review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3" name="Google Shape;183;p19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RESULTS · TUNGSTEN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0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Every run records its cost and time: Tungsten $0.74 in 5½ minutes, Polish $2.65 in 17</a:t>
            </a:r>
            <a:endParaRPr/>
          </a:p>
        </p:txBody>
      </p:sp>
      <p:sp>
        <p:nvSpPr>
          <p:cNvPr id="189" name="Google Shape;189;p20"/>
          <p:cNvSpPr txBox="1"/>
          <p:nvPr/>
        </p:nvSpPr>
        <p:spPr>
          <a:xfrm>
            <a:off x="508000" y="1117600"/>
            <a:ext cx="4191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API cost per full run, 11 Oct 2026 ($)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20"/>
          <p:cNvSpPr txBox="1"/>
          <p:nvPr/>
        </p:nvSpPr>
        <p:spPr>
          <a:xfrm>
            <a:off x="5080000" y="1219200"/>
            <a:ext cx="1397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$0.74</a:t>
            </a:r>
            <a:endParaRPr b="1" sz="28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1" name="Google Shape;191;p20"/>
          <p:cNvSpPr txBox="1"/>
          <p:nvPr/>
        </p:nvSpPr>
        <p:spPr>
          <a:xfrm>
            <a:off x="6527800" y="1219200"/>
            <a:ext cx="18543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Tungsten · 5m 30s</a:t>
            </a:r>
            <a:endParaRPr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2" name="Google Shape;192;p20"/>
          <p:cNvSpPr txBox="1"/>
          <p:nvPr/>
        </p:nvSpPr>
        <p:spPr>
          <a:xfrm>
            <a:off x="5080000" y="1879600"/>
            <a:ext cx="1397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$2.65</a:t>
            </a:r>
            <a:endParaRPr b="1" sz="28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3" name="Google Shape;193;p20"/>
          <p:cNvSpPr txBox="1"/>
          <p:nvPr/>
        </p:nvSpPr>
        <p:spPr>
          <a:xfrm>
            <a:off x="6527800" y="1879600"/>
            <a:ext cx="18543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Polish · 16m 35s</a:t>
            </a:r>
            <a:endParaRPr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4" name="Google Shape;194;p20"/>
          <p:cNvSpPr txBox="1"/>
          <p:nvPr/>
        </p:nvSpPr>
        <p:spPr>
          <a:xfrm>
            <a:off x="5080000" y="2590800"/>
            <a:ext cx="3302100" cy="193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300"/>
              <a:buFont typeface="Inter"/>
              <a:buChar char="●"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Polish costs more: it finds organisations first, and the planner group never stops early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700"/>
              </a:spcBef>
              <a:spcAft>
                <a:spcPts val="0"/>
              </a:spcAft>
              <a:buClr>
                <a:srgbClr val="1B1F24"/>
              </a:buClr>
              <a:buSzPts val="1300"/>
              <a:buFont typeface="Inter"/>
              <a:buChar char="●"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Adaptive stopping and conditional paging skip results we don't need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700"/>
              </a:spcBef>
              <a:spcAft>
                <a:spcPts val="700"/>
              </a:spcAft>
              <a:buClr>
                <a:srgbClr val="1B1F24"/>
              </a:buClr>
              <a:buSzPts val="1300"/>
              <a:buFont typeface="Inter"/>
              <a:buChar char="●"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Measured runs at list prices; totals vary about ±20%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95" name="Google Shape;19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000" y="1422400"/>
            <a:ext cx="4190999" cy="3149599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0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RESULTS · COST AND TIME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1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Polish brief ran on the same pipeline and exposed one real gap, which the system did not hide</a:t>
            </a:r>
            <a:endParaRPr/>
          </a:p>
        </p:txBody>
      </p:sp>
      <p:sp>
        <p:nvSpPr>
          <p:cNvPr id="202" name="Google Shape;202;p21"/>
          <p:cNvSpPr txBox="1"/>
          <p:nvPr/>
        </p:nvSpPr>
        <p:spPr>
          <a:xfrm>
            <a:off x="508000" y="1117600"/>
            <a:ext cx="8127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SAME PIPELINE, BRIEF-DRIVEN RULES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203" name="Google Shape;203;p21"/>
          <p:cNvGraphicFramePr/>
          <p:nvPr/>
        </p:nvGraphicFramePr>
        <p:xfrm>
          <a:off x="508000" y="1397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{B8D5EC83-102E-48E2-B518-281E1677A4E8}</a:tableStyleId>
              </a:tblPr>
              <a:tblGrid>
                <a:gridCol w="2709325"/>
                <a:gridCol w="2709325"/>
                <a:gridCol w="2709325"/>
              </a:tblGrid>
              <a:tr h="355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endParaRPr b="1"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Tungsten Automation</a:t>
                      </a:r>
                      <a:endParaRPr b="1"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Polish Rail Freight</a:t>
                      </a:r>
                      <a:endParaRPr b="1"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355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Search language</a:t>
                      </a:r>
                      <a:endParaRPr b="1"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English</a:t>
                      </a:r>
                      <a:endParaRPr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Polish and English</a:t>
                      </a:r>
                      <a:endParaRPr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355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Organisations named</a:t>
                      </a:r>
                      <a:endParaRPr b="1"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Target, alias, competitors</a:t>
                      </a:r>
                      <a:endParaRPr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None: discovered first</a:t>
                      </a:r>
                      <a:endParaRPr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355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Exclusions</a:t>
                      </a:r>
                      <a:endParaRPr b="1"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Current and former staff</a:t>
                      </a:r>
                      <a:endParaRPr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Current staff only</a:t>
                      </a:r>
                      <a:endParaRPr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355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Groups filled</a:t>
                      </a:r>
                      <a:endParaRPr b="1"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3 of 3 (60 experts)</a:t>
                      </a:r>
                      <a:endParaRPr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B4530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2 of 3 (</a:t>
                      </a:r>
                      <a:r>
                        <a:rPr lang="en" sz="1300">
                          <a:solidFill>
                            <a:srgbClr val="B4530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40 experts</a:t>
                      </a:r>
                      <a:r>
                        <a:rPr lang="en" sz="1300">
                          <a:solidFill>
                            <a:srgbClr val="B4530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)</a:t>
                      </a:r>
                      <a:endParaRPr sz="1300">
                        <a:solidFill>
                          <a:srgbClr val="B45309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</a:tbl>
          </a:graphicData>
        </a:graphic>
      </p:graphicFrame>
      <p:sp>
        <p:nvSpPr>
          <p:cNvPr id="204" name="Google Shape;204;p21"/>
          <p:cNvSpPr/>
          <p:nvPr/>
        </p:nvSpPr>
        <p:spPr>
          <a:xfrm>
            <a:off x="508000" y="3378200"/>
            <a:ext cx="8127900" cy="11685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5" name="Google Shape;205;p21"/>
          <p:cNvSpPr/>
          <p:nvPr/>
        </p:nvSpPr>
        <p:spPr>
          <a:xfrm>
            <a:off x="508000" y="3378200"/>
            <a:ext cx="50700" cy="11685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6" name="Google Shape;206;p21"/>
          <p:cNvSpPr txBox="1"/>
          <p:nvPr/>
        </p:nvSpPr>
        <p:spPr>
          <a:xfrm>
            <a:off x="685800" y="3454400"/>
            <a:ext cx="7746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THE GAP: 0 CONFIDENT INFRASTRUCTURE PLANNERS</a:t>
            </a:r>
            <a:endParaRPr b="1" sz="1200">
              <a:solidFill>
                <a:srgbClr val="B4530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7" name="Google Shape;207;p21"/>
          <p:cNvSpPr txBox="1"/>
          <p:nvPr/>
        </p:nvSpPr>
        <p:spPr>
          <a:xfrm>
            <a:off x="685800" y="3708400"/>
            <a:ext cx="77469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Search found ex-PKP PLK and UTK department heads, but no public profile states a train-path or access-charge remit. 8 went to review rather than onto the list.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8" name="Google Shape;208;p21"/>
          <p:cNvSpPr txBox="1"/>
          <p:nvPr/>
        </p:nvSpPr>
        <p:spPr>
          <a:xfrm>
            <a:off x="685800" y="4241800"/>
            <a:ext cx="7746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Zero confident results is a coverage problem to solve, not a reason to relax the rule.</a:t>
            </a:r>
            <a:endParaRPr b="1" sz="13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9" name="Google Shape;209;p21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RESULTS · SECOND BRIEF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2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Six things that went wrong during the build; each was caught by a live run or a check</a:t>
            </a:r>
            <a:endParaRPr/>
          </a:p>
        </p:txBody>
      </p:sp>
      <p:sp>
        <p:nvSpPr>
          <p:cNvPr id="215" name="Google Shape;215;p22"/>
          <p:cNvSpPr/>
          <p:nvPr/>
        </p:nvSpPr>
        <p:spPr>
          <a:xfrm>
            <a:off x="508000" y="1117600"/>
            <a:ext cx="2590800" cy="16764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22"/>
          <p:cNvSpPr/>
          <p:nvPr/>
        </p:nvSpPr>
        <p:spPr>
          <a:xfrm>
            <a:off x="508000" y="1117600"/>
            <a:ext cx="50700" cy="1676400"/>
          </a:xfrm>
          <a:prstGeom prst="rect">
            <a:avLst/>
          </a:prstGeom>
          <a:solidFill>
            <a:srgbClr val="D97A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7" name="Google Shape;217;p22"/>
          <p:cNvSpPr txBox="1"/>
          <p:nvPr/>
        </p:nvSpPr>
        <p:spPr>
          <a:xfrm>
            <a:off x="685800" y="1219200"/>
            <a:ext cx="2336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Brave mangled search operators</a:t>
            </a:r>
            <a:endParaRPr b="1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8" name="Google Shape;218;p22"/>
          <p:cNvSpPr txBox="1"/>
          <p:nvPr/>
        </p:nvSpPr>
        <p:spPr>
          <a:xfrm>
            <a:off x="685800" y="1727200"/>
            <a:ext cx="2336700" cy="10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Live probes showed X-ray filters ignored. Switched to Google via Serper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9" name="Google Shape;219;p22"/>
          <p:cNvSpPr/>
          <p:nvPr/>
        </p:nvSpPr>
        <p:spPr>
          <a:xfrm>
            <a:off x="3276600" y="1117600"/>
            <a:ext cx="2590800" cy="16764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0" name="Google Shape;220;p22"/>
          <p:cNvSpPr/>
          <p:nvPr/>
        </p:nvSpPr>
        <p:spPr>
          <a:xfrm>
            <a:off x="3276600" y="1117600"/>
            <a:ext cx="50700" cy="1676400"/>
          </a:xfrm>
          <a:prstGeom prst="rect">
            <a:avLst/>
          </a:prstGeom>
          <a:solidFill>
            <a:srgbClr val="D97A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1" name="Google Shape;221;p22"/>
          <p:cNvSpPr txBox="1"/>
          <p:nvPr/>
        </p:nvSpPr>
        <p:spPr>
          <a:xfrm>
            <a:off x="3454400" y="1219200"/>
            <a:ext cx="2336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Exa ignores "former"</a:t>
            </a:r>
            <a:endParaRPr b="1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2" name="Google Shape;222;p22"/>
          <p:cNvSpPr txBox="1"/>
          <p:nvPr/>
        </p:nvSpPr>
        <p:spPr>
          <a:xfrm>
            <a:off x="3454400" y="1727200"/>
            <a:ext cx="2336700" cy="10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About half its "former" results still worked there. Status now comes from work history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3" name="Google Shape;223;p22"/>
          <p:cNvSpPr/>
          <p:nvPr/>
        </p:nvSpPr>
        <p:spPr>
          <a:xfrm>
            <a:off x="6045200" y="1117600"/>
            <a:ext cx="2590800" cy="16764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4" name="Google Shape;224;p22"/>
          <p:cNvSpPr/>
          <p:nvPr/>
        </p:nvSpPr>
        <p:spPr>
          <a:xfrm>
            <a:off x="6045200" y="1117600"/>
            <a:ext cx="50700" cy="1676400"/>
          </a:xfrm>
          <a:prstGeom prst="rect">
            <a:avLst/>
          </a:prstGeom>
          <a:solidFill>
            <a:srgbClr val="D97A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5" name="Google Shape;225;p22"/>
          <p:cNvSpPr txBox="1"/>
          <p:nvPr/>
        </p:nvSpPr>
        <p:spPr>
          <a:xfrm>
            <a:off x="6223000" y="1219200"/>
            <a:ext cx="2336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Ideal titles treated as rules</a:t>
            </a:r>
            <a:endParaRPr b="1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22"/>
          <p:cNvSpPr txBox="1"/>
          <p:nvPr/>
        </p:nvSpPr>
        <p:spPr>
          <a:xfrm>
            <a:off x="6223000" y="1727200"/>
            <a:ext cx="2336700" cy="10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10 good former employees rejected. Now only hard requirements reject: 1 after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22"/>
          <p:cNvSpPr/>
          <p:nvPr/>
        </p:nvSpPr>
        <p:spPr>
          <a:xfrm>
            <a:off x="508000" y="2921000"/>
            <a:ext cx="2590800" cy="16764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8" name="Google Shape;228;p22"/>
          <p:cNvSpPr/>
          <p:nvPr/>
        </p:nvSpPr>
        <p:spPr>
          <a:xfrm>
            <a:off x="508000" y="2921000"/>
            <a:ext cx="50700" cy="1676400"/>
          </a:xfrm>
          <a:prstGeom prst="rect">
            <a:avLst/>
          </a:prstGeom>
          <a:solidFill>
            <a:srgbClr val="D97A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9" name="Google Shape;229;p22"/>
          <p:cNvSpPr txBox="1"/>
          <p:nvPr/>
        </p:nvSpPr>
        <p:spPr>
          <a:xfrm>
            <a:off x="685800" y="3022600"/>
            <a:ext cx="2336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Early stop counted the wrong thing</a:t>
            </a:r>
            <a:endParaRPr b="1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0" name="Google Shape;230;p22"/>
          <p:cNvSpPr txBox="1"/>
          <p:nvPr/>
        </p:nvSpPr>
        <p:spPr>
          <a:xfrm>
            <a:off x="685800" y="3530600"/>
            <a:ext cx="2336700" cy="10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Date fit stopped "lead" groups early (11 of 41 were leads). Now it counts LLM-qualified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1" name="Google Shape;231;p22"/>
          <p:cNvSpPr/>
          <p:nvPr/>
        </p:nvSpPr>
        <p:spPr>
          <a:xfrm>
            <a:off x="3276600" y="2921000"/>
            <a:ext cx="2590800" cy="16764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2" name="Google Shape;232;p22"/>
          <p:cNvSpPr/>
          <p:nvPr/>
        </p:nvSpPr>
        <p:spPr>
          <a:xfrm>
            <a:off x="3276600" y="2921000"/>
            <a:ext cx="50700" cy="1676400"/>
          </a:xfrm>
          <a:prstGeom prst="rect">
            <a:avLst/>
          </a:prstGeom>
          <a:solidFill>
            <a:srgbClr val="D97A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22"/>
          <p:cNvSpPr txBox="1"/>
          <p:nvPr/>
        </p:nvSpPr>
        <p:spPr>
          <a:xfrm>
            <a:off x="3454400" y="3022600"/>
            <a:ext cx="2336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 loose profile match</a:t>
            </a:r>
            <a:endParaRPr b="1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4" name="Google Shape;234;p22"/>
          <p:cNvSpPr txBox="1"/>
          <p:nvPr/>
        </p:nvSpPr>
        <p:spPr>
          <a:xfrm>
            <a:off x="3454400" y="3530600"/>
            <a:ext cx="2336700" cy="10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"Rail Polska" matched "DB Schenker Rail Polska". Now exact employer, single match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5" name="Google Shape;235;p22"/>
          <p:cNvSpPr/>
          <p:nvPr/>
        </p:nvSpPr>
        <p:spPr>
          <a:xfrm>
            <a:off x="6045200" y="2921000"/>
            <a:ext cx="2590800" cy="16764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6" name="Google Shape;236;p22"/>
          <p:cNvSpPr/>
          <p:nvPr/>
        </p:nvSpPr>
        <p:spPr>
          <a:xfrm>
            <a:off x="6045200" y="2921000"/>
            <a:ext cx="50700" cy="1676400"/>
          </a:xfrm>
          <a:prstGeom prst="rect">
            <a:avLst/>
          </a:prstGeom>
          <a:solidFill>
            <a:srgbClr val="D97A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7" name="Google Shape;237;p22"/>
          <p:cNvSpPr txBox="1"/>
          <p:nvPr/>
        </p:nvSpPr>
        <p:spPr>
          <a:xfrm>
            <a:off x="6223000" y="3022600"/>
            <a:ext cx="2336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Runs degraded silently</a:t>
            </a:r>
            <a:endParaRPr b="1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8" name="Google Shape;238;p22"/>
          <p:cNvSpPr txBox="1"/>
          <p:nvPr/>
        </p:nvSpPr>
        <p:spPr>
          <a:xfrm>
            <a:off x="6223000" y="3530600"/>
            <a:ext cx="2336700" cy="10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Credits ran out twice; rate limits lost 16 pages. Now quota errors stop the run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9" name="Google Shape;239;p22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WHAT WENT WRONG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 learned and what comes next</a:t>
            </a:r>
            <a:endParaRPr/>
          </a:p>
        </p:txBody>
      </p:sp>
      <p:sp>
        <p:nvSpPr>
          <p:cNvPr id="245" name="Google Shape;245;p23"/>
          <p:cNvSpPr/>
          <p:nvPr/>
        </p:nvSpPr>
        <p:spPr>
          <a:xfrm>
            <a:off x="508000" y="1193800"/>
            <a:ext cx="2590800" cy="507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6" name="Google Shape;246;p23"/>
          <p:cNvSpPr txBox="1"/>
          <p:nvPr/>
        </p:nvSpPr>
        <p:spPr>
          <a:xfrm>
            <a:off x="508000" y="1346200"/>
            <a:ext cx="2590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LESSONS</a:t>
            </a:r>
            <a:endParaRPr b="1" sz="12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7" name="Google Shape;247;p23"/>
          <p:cNvSpPr txBox="1"/>
          <p:nvPr/>
        </p:nvSpPr>
        <p:spPr>
          <a:xfrm>
            <a:off x="508000" y="1676400"/>
            <a:ext cx="25908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Keep hard rules deterministic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Search until enough people qualify, not until results run out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100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Send thin evidence to a human; never pad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8" name="Google Shape;248;p23"/>
          <p:cNvSpPr/>
          <p:nvPr/>
        </p:nvSpPr>
        <p:spPr>
          <a:xfrm>
            <a:off x="3276600" y="1193800"/>
            <a:ext cx="2590800" cy="507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9" name="Google Shape;249;p23"/>
          <p:cNvSpPr txBox="1"/>
          <p:nvPr/>
        </p:nvSpPr>
        <p:spPr>
          <a:xfrm>
            <a:off x="3276600" y="1346200"/>
            <a:ext cx="2590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NEXT</a:t>
            </a:r>
            <a:endParaRPr b="1" sz="12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0" name="Google Shape;250;p23"/>
          <p:cNvSpPr txBox="1"/>
          <p:nvPr/>
        </p:nvSpPr>
        <p:spPr>
          <a:xfrm>
            <a:off x="3276600" y="1676400"/>
            <a:ext cx="25908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Label the Polish results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Add a second reviewer to measure agreement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Improve discovery for sparse groups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100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Try </a:t>
            </a:r>
            <a:r>
              <a:rPr b="1"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Jev</a:t>
            </a: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 for sub-second verdicts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1" name="Google Shape;251;p23"/>
          <p:cNvSpPr/>
          <p:nvPr/>
        </p:nvSpPr>
        <p:spPr>
          <a:xfrm>
            <a:off x="6045200" y="1193800"/>
            <a:ext cx="2590800" cy="507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2" name="Google Shape;252;p23"/>
          <p:cNvSpPr txBox="1"/>
          <p:nvPr/>
        </p:nvSpPr>
        <p:spPr>
          <a:xfrm>
            <a:off x="6045200" y="1346200"/>
            <a:ext cx="2590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AT VOLUME</a:t>
            </a:r>
            <a:endParaRPr b="1" sz="12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3" name="Google Shape;253;p23"/>
          <p:cNvSpPr txBox="1"/>
          <p:nvPr/>
        </p:nvSpPr>
        <p:spPr>
          <a:xfrm>
            <a:off x="6045200" y="1676400"/>
            <a:ext cx="25908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Cache pages and searches with an expiry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Learn from reviewer rejections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100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Monitor quality and cost per brief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4" name="Google Shape;254;p23"/>
          <p:cNvSpPr txBox="1"/>
          <p:nvPr/>
        </p:nvSpPr>
        <p:spPr>
          <a:xfrm>
            <a:off x="508000" y="3810000"/>
            <a:ext cx="7874100" cy="66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The deliverable is not just a list of people. It is a sourcing process whose results, decisions, costs and limits can all be inspected.</a:t>
            </a:r>
            <a:endParaRPr b="1" sz="16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55" name="Google Shape;255;p23"/>
          <p:cNvCxnSpPr/>
          <p:nvPr/>
        </p:nvCxnSpPr>
        <p:spPr>
          <a:xfrm>
            <a:off x="508000" y="3683000"/>
            <a:ext cx="8127900" cy="0"/>
          </a:xfrm>
          <a:prstGeom prst="straightConnector1">
            <a:avLst/>
          </a:prstGeom>
          <a:noFill/>
          <a:ln cap="flat" cmpd="sng" w="12700">
            <a:solidFill>
              <a:srgbClr val="DCDCD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6" name="Google Shape;256;p23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WHAT COMES NEXT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4"/>
          <p:cNvSpPr txBox="1"/>
          <p:nvPr>
            <p:ph type="ctrTitle"/>
          </p:nvPr>
        </p:nvSpPr>
        <p:spPr>
          <a:xfrm>
            <a:off x="508000" y="1524000"/>
            <a:ext cx="8127900" cy="88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Thank you</a:t>
            </a:r>
            <a:endParaRPr sz="4000"/>
          </a:p>
        </p:txBody>
      </p:sp>
      <p:sp>
        <p:nvSpPr>
          <p:cNvPr id="262" name="Google Shape;262;p24"/>
          <p:cNvSpPr txBox="1"/>
          <p:nvPr>
            <p:ph idx="1" type="subTitle"/>
          </p:nvPr>
        </p:nvSpPr>
        <p:spPr>
          <a:xfrm>
            <a:off x="508000" y="2540000"/>
            <a:ext cx="8127900" cy="88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" sz="1800">
                <a:solidFill>
                  <a:srgbClr val="1B1F24"/>
                </a:solidFill>
              </a:rPr>
              <a:t>Questions on the design and results</a:t>
            </a:r>
            <a:endParaRPr sz="1300"/>
          </a:p>
        </p:txBody>
      </p:sp>
      <p:sp>
        <p:nvSpPr>
          <p:cNvPr id="263" name="Google Shape;263;p24"/>
          <p:cNvSpPr/>
          <p:nvPr/>
        </p:nvSpPr>
        <p:spPr>
          <a:xfrm>
            <a:off x="508000" y="1371600"/>
            <a:ext cx="1016100" cy="636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Custom">
      <a:dk1>
        <a:srgbClr val="1B1F24"/>
      </a:dk1>
      <a:lt1>
        <a:srgbClr val="FFFFFF"/>
      </a:lt1>
      <a:dk2>
        <a:srgbClr val="5A6270"/>
      </a:dk2>
      <a:lt2>
        <a:srgbClr val="F2F3EF"/>
      </a:lt2>
      <a:accent1>
        <a:srgbClr val="0E7C66"/>
      </a:accent1>
      <a:accent2>
        <a:srgbClr val="D97A2B"/>
      </a:accent2>
      <a:accent3>
        <a:srgbClr val="2F4858"/>
      </a:accent3>
      <a:accent4>
        <a:srgbClr val="7FA99B"/>
      </a:accent4>
      <a:accent5>
        <a:srgbClr val="C9D6CF"/>
      </a:accent5>
      <a:accent6>
        <a:srgbClr val="B0892F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