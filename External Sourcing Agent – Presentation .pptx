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07A2B9-6F1F-495C-935F-9756859421AD}">
  <a:tblStyle styleId="{1007A2B9-6F1F-495C-935F-9756859421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5.xml"/><Relationship Id="rId22" Type="http://schemas.openxmlformats.org/officeDocument/2006/relationships/font" Target="fonts/Inter-boldItalic.fntdata"/><Relationship Id="rId10" Type="http://schemas.openxmlformats.org/officeDocument/2006/relationships/slide" Target="slides/slide4.xml"/><Relationship Id="rId21" Type="http://schemas.openxmlformats.org/officeDocument/2006/relationships/font" Target="fonts/Inter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SLIDES_API185504233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SLIDES_API185504233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SLIDES_API76416308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SLIDES_API76416308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SLIDES_API764163085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SLIDES_API764163085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SLIDES_API764163085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SLIDES_API764163085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SLIDES_API31507545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SLIDES_API31507545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SLIDES_API202132706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SLIDES_API202132706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SLIDES_API2021327066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SLIDES_API2021327066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SLIDES_API31507545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SLIDES_API31507545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SLIDES_API31507545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SLIDES_API31507545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SLIDES_API31507545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SLIDES_API31507545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SLIDES_API18041570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SLIDES_API18041570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400"/>
              <a:buChar char="●"/>
              <a:defRPr sz="1400">
                <a:solidFill>
                  <a:srgbClr val="5A6270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400"/>
              <a:buChar char="●"/>
              <a:defRPr sz="1400">
                <a:solidFill>
                  <a:srgbClr val="5A6270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b="1" sz="2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b="1" sz="2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b="1" sz="2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b="1" sz="2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b="1" sz="2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b="1" sz="2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b="1" sz="2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b="1" sz="2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b="1" sz="2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●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○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■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30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●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30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○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30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■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30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●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30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○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30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■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508000" y="114300"/>
            <a:ext cx="4572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0" y="5092700"/>
            <a:ext cx="91440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508000" y="1524000"/>
            <a:ext cx="81279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External Sourcing Agent</a:t>
            </a:r>
            <a:endParaRPr sz="40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508000" y="2540000"/>
            <a:ext cx="81279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B1F24"/>
                </a:solidFill>
              </a:rPr>
              <a:t>Finding people is easy. Defending why they qualify is the engineering problem.</a:t>
            </a:r>
            <a:endParaRPr sz="1800">
              <a:solidFill>
                <a:srgbClr val="1B1F2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" sz="1300"/>
              <a:t>Data Engineer take-home · Tungsten Automation and Polish Rail Freight briefs</a:t>
            </a:r>
            <a:endParaRPr sz="1300"/>
          </a:p>
        </p:txBody>
      </p:sp>
      <p:sp>
        <p:nvSpPr>
          <p:cNvPr id="58" name="Google Shape;58;p13"/>
          <p:cNvSpPr/>
          <p:nvPr/>
        </p:nvSpPr>
        <p:spPr>
          <a:xfrm>
            <a:off x="508000" y="1371600"/>
            <a:ext cx="1016100" cy="636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finds hundreds of plausible profiles; proving which ones qualify is the work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508000" y="1193800"/>
            <a:ext cx="368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TODAY</a:t>
            </a:r>
            <a:endParaRPr b="1"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08000" y="1473200"/>
            <a:ext cx="3683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About half the experts on client calls are not in our database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700"/>
              </a:spcBef>
              <a:spcAft>
                <a:spcPts val="70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Researchers find them by hand on LinkedIn, late in the project, one search at a time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08000" y="2819400"/>
            <a:ext cx="368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EVERY EXPERT RETURNED NEEDS</a:t>
            </a:r>
            <a:endParaRPr b="1"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08000" y="3098800"/>
            <a:ext cx="3683100" cy="14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 relevant role and company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50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 public profile we can open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50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Evidence for why they fit the brief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500"/>
              </a:spcBef>
              <a:spcAft>
                <a:spcPts val="50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No excluded or ineligible employer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699000" y="1092000"/>
            <a:ext cx="368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TUNGSTEN RUN: FROM SEARCH HIT TO SHORTLIST</a:t>
            </a:r>
            <a:endParaRPr b="1"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699000" y="1473200"/>
            <a:ext cx="116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720</a:t>
            </a:r>
            <a:endParaRPr b="1" sz="30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867400" y="1473200"/>
            <a:ext cx="25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profiles found by search</a:t>
            </a:r>
            <a:endParaRPr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749800" y="1981200"/>
            <a:ext cx="3632100" cy="101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4699000" y="2743200"/>
            <a:ext cx="116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30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5867400" y="2743200"/>
            <a:ext cx="25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qualified when search stopped</a:t>
            </a:r>
            <a:endParaRPr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4749800" y="3251200"/>
            <a:ext cx="418800" cy="101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4699000" y="3378200"/>
            <a:ext cx="116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60</a:t>
            </a:r>
            <a:endParaRPr b="1" sz="3000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5867400" y="3378200"/>
            <a:ext cx="25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returned, 20 per group</a:t>
            </a:r>
            <a:endParaRPr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749800" y="3886200"/>
            <a:ext cx="302700" cy="101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4699000" y="4038600"/>
            <a:ext cx="3683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Of 250 profiles read, 83 qualified. Finding someone is the start; proving they qualify is the work.</a:t>
            </a:r>
            <a:endParaRPr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b="1" sz="9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699000" y="2108200"/>
            <a:ext cx="116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250</a:t>
            </a:r>
            <a:endParaRPr b="1" sz="30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5867400" y="2108200"/>
            <a:ext cx="25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read, best-ranked first</a:t>
            </a:r>
            <a:endParaRPr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749800" y="2616200"/>
            <a:ext cx="1261200" cy="101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Approach: hard rules run in code; the LLM judges only what code cannot</a:t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508000" y="1219200"/>
            <a:ext cx="3962400" cy="26163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508000" y="1219200"/>
            <a:ext cx="3962400" cy="50700"/>
          </a:xfrm>
          <a:prstGeom prst="rect">
            <a:avLst/>
          </a:prstGeom>
          <a:solidFill>
            <a:srgbClr val="8A92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85800" y="1371600"/>
            <a:ext cx="368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CODE DECIDES: TESTABLE, SAME EVERY RUN</a:t>
            </a:r>
            <a:endParaRPr b="1"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685800" y="1676400"/>
            <a:ext cx="36831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Employment dates and departure windows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Exclusions, including the former name Kofax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Organisation matching ("Kofax India Pvt Ltd" counts as Kofax)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Merging the same person across sources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700"/>
              </a:spcBef>
              <a:spcAft>
                <a:spcPts val="70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Work history parsed from structured profile data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673600" y="1219200"/>
            <a:ext cx="3962400" cy="26163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4673600" y="1219200"/>
            <a:ext cx="39624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4851400" y="1371600"/>
            <a:ext cx="368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THE LLM JUDGES (CLAUDE)</a:t>
            </a:r>
            <a:endParaRPr b="1" sz="1200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4851400" y="1676400"/>
            <a:ext cx="36831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Reads the brief into rules, each quoting the brief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Writes role words and discovery queries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Reads relevant pages for named people and customers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Checks requirements code cannot ("a product leader")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700"/>
              </a:spcBef>
              <a:spcAft>
                <a:spcPts val="70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Scores fit and writes the reason, citing evidence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508000" y="3962400"/>
            <a:ext cx="8127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 hard rule rejects, and no score can rescue it:</a:t>
            </a: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 still at Tungsten or Kofax, left under 6 months ago, founder or C-level at a competitor. </a:t>
            </a:r>
            <a:r>
              <a:rPr b="1"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 preference only changes the score:</a:t>
            </a: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 ideal titles, "ideally 8+ years".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APPROACH</a:t>
            </a:r>
            <a:endParaRPr b="1" sz="9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Discovery: the brief decides between two search strategies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APPROACH · DISCOVERY</a:t>
            </a:r>
            <a:endParaRPr b="1" sz="9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08000" y="1219200"/>
            <a:ext cx="3962400" cy="30861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08000" y="1219200"/>
            <a:ext cx="39624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635000" y="1371600"/>
            <a:ext cx="3708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1  People first</a:t>
            </a:r>
            <a:endParaRPr b="1" sz="16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635000" y="1727200"/>
            <a:ext cx="3708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WHEN</a:t>
            </a:r>
            <a:endParaRPr b="1" sz="10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635000" y="1930400"/>
            <a:ext cx="3708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The brief names the organisations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635000" y="2286000"/>
            <a:ext cx="3708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HOW</a:t>
            </a:r>
            <a:endParaRPr b="1" sz="10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635000" y="2489200"/>
            <a:ext cx="37083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Google LinkedIn X-rays at each named organisation, sliced by departure quarter and job function, since each search returns about 10 profiles. Exa tops up short groups.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635000" y="3632200"/>
            <a:ext cx="3708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USED FOR</a:t>
            </a:r>
            <a:endParaRPr b="1" sz="10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635000" y="3835400"/>
            <a:ext cx="3708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Tungsten: former employees, competitors</a:t>
            </a:r>
            <a:endParaRPr b="1" sz="1300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4673600" y="1219200"/>
            <a:ext cx="3962400" cy="31497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4673600" y="1219200"/>
            <a:ext cx="39624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800600" y="1371600"/>
            <a:ext cx="3708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2  Companies, then people</a:t>
            </a:r>
            <a:endParaRPr b="1" sz="16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4800600" y="1727200"/>
            <a:ext cx="3708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WHEN</a:t>
            </a:r>
            <a:endParaRPr b="1" sz="10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4800600" y="1930400"/>
            <a:ext cx="3708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No organisations named in the brief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4800600" y="2286000"/>
            <a:ext cx="3708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HOW</a:t>
            </a:r>
            <a:endParaRPr b="1" sz="10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800600" y="2489200"/>
            <a:ext cx="37083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Find organisations first in case studies, press releases and registers, each with a quote that code checks. Then one X-ray per organisation, in batches of 10, until the group has enough.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800600" y="3632200"/>
            <a:ext cx="3708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USED FOR</a:t>
            </a:r>
            <a:endParaRPr b="1" sz="10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4841550" y="3801275"/>
            <a:ext cx="3708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Tungsten: customers</a:t>
            </a:r>
            <a:endParaRPr b="1" sz="1300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Polish rail: all three groups</a:t>
            </a:r>
            <a:endParaRPr b="1" sz="1300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08000" y="4368800"/>
            <a:ext cx="7874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Both stop once a group has X qualified candidates: </a:t>
            </a: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ample gro</a:t>
            </a:r>
            <a:r>
              <a:rPr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ups stay cheap, thin groups keep searching. The parsed brief picks the strategy, so no brief needs its own code.</a:t>
            </a:r>
            <a:endParaRPr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Nine stages: code enforces the rules, the LLM reads language, and every stage can be inspected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08000" y="1143000"/>
            <a:ext cx="2489100" cy="30987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635000" y="12446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UNDERSTAND THE BRIEF</a:t>
            </a:r>
            <a:endParaRPr b="1"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609600" y="1600200"/>
            <a:ext cx="279300" cy="279300"/>
          </a:xfrm>
          <a:prstGeom prst="ellipse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939800" y="15748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Brief parsing</a:t>
            </a:r>
            <a:endParaRPr b="1"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Groups, aliases, date windows, each quoted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609600" y="2260600"/>
            <a:ext cx="279300" cy="279300"/>
          </a:xfrm>
          <a:prstGeom prst="ellipse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939800" y="22352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Query generation</a:t>
            </a:r>
            <a:endParaRPr b="1"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Code templates plus LLM role words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048000" y="2527300"/>
            <a:ext cx="228600" cy="33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1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3327400" y="1143000"/>
            <a:ext cx="2489100" cy="30987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454400" y="12446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FIND PEOPLE</a:t>
            </a:r>
            <a:endParaRPr b="1"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3429000" y="1600200"/>
            <a:ext cx="279300" cy="2793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3759200" y="15748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Search</a:t>
            </a:r>
            <a:endParaRPr b="1"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Google (Serper) and Exa in parallel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3429000" y="2260600"/>
            <a:ext cx="279300" cy="279300"/>
          </a:xfrm>
          <a:prstGeom prst="ellipse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3759200" y="22352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Extract candidates</a:t>
            </a:r>
            <a:endParaRPr b="1"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Code parses profiles; LLM reads pages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3429000" y="2921000"/>
            <a:ext cx="279300" cy="2793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3759200" y="28956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People per company</a:t>
            </a:r>
            <a:endParaRPr b="1"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One X-ray per customer or operator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429000" y="3581400"/>
            <a:ext cx="279300" cy="2793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3759200" y="35560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Profile lookup</a:t>
            </a:r>
            <a:endParaRPr b="1"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Name and employer must both match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867400" y="2527300"/>
            <a:ext cx="228600" cy="33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1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6146800" y="1143000"/>
            <a:ext cx="2489100" cy="30987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6273800" y="12446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DECIDE</a:t>
            </a:r>
            <a:endParaRPr b="1"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248400" y="1600200"/>
            <a:ext cx="279300" cy="2793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6578600" y="15748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Entity resolution</a:t>
            </a:r>
            <a:endParaRPr b="1"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A name alone never merges two people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6248400" y="2260600"/>
            <a:ext cx="279300" cy="2793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578600" y="22352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Verification</a:t>
            </a:r>
            <a:endParaRPr b="1"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Code only: dates, exclusions, roles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248400" y="2921000"/>
            <a:ext cx="279300" cy="279300"/>
          </a:xfrm>
          <a:prstGeom prst="ellipse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578600" y="28956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Ranking</a:t>
            </a:r>
            <a:endParaRPr b="1"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LLM judges fit; code weights, top 20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08000" y="4318000"/>
            <a:ext cx="5918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Every stage's file is a resume point: fix the rules, queries or customer list without paying again.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629400" y="4381500"/>
            <a:ext cx="126900" cy="126900"/>
          </a:xfrm>
          <a:prstGeom prst="ellipse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6832600" y="4318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LLM involved</a:t>
            </a:r>
            <a:endParaRPr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629400" y="4597400"/>
            <a:ext cx="126900" cy="1269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6832600" y="45466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Code only</a:t>
            </a:r>
            <a:endParaRPr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58800" y="16002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558800" y="22606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3378200" y="16002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3378200" y="22606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3378200" y="29210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3378200" y="35814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6197600" y="16002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6197600" y="22606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6197600" y="29210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HOW IT WORKS</a:t>
            </a:r>
            <a:endParaRPr b="1" sz="9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508000" y="228600"/>
            <a:ext cx="81957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way the pipeline could lie to us has a guard</a:t>
            </a:r>
            <a:endParaRPr/>
          </a:p>
        </p:txBody>
      </p:sp>
      <p:graphicFrame>
        <p:nvGraphicFramePr>
          <p:cNvPr id="174" name="Google Shape;174;p18"/>
          <p:cNvGraphicFramePr/>
          <p:nvPr/>
        </p:nvGraphicFramePr>
        <p:xfrm>
          <a:off x="508000" y="79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{1007A2B9-6F1F-495C-935F-9756859421AD}</a:tableStyleId>
              </a:tblPr>
              <a:tblGrid>
                <a:gridCol w="2170400"/>
                <a:gridCol w="3371025"/>
                <a:gridCol w="2586550"/>
              </a:tblGrid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5A627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Risk</a:t>
                      </a:r>
                      <a:endParaRPr b="1" sz="1200">
                        <a:solidFill>
                          <a:srgbClr val="5A627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5A627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Guard</a:t>
                      </a:r>
                      <a:endParaRPr b="1" sz="1200">
                        <a:solidFill>
                          <a:srgbClr val="5A627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5A627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it was checked</a:t>
                      </a:r>
                      <a:endParaRPr b="1" sz="1200">
                        <a:solidFill>
                          <a:srgbClr val="5A627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Made-up people</a:t>
                      </a:r>
                      <a:endParaRPr b="1"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 search hits; names and quotes verified against source text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Code-level quote verification; reviewer opened every sample link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Stale roles</a:t>
                      </a:r>
                      <a:endParaRPr b="1"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Dated work history; conflicting current-role signals checked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Tests cover stale headlines and employment-window boundaries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Name collisions</a:t>
                      </a:r>
                      <a:endParaRPr b="1"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Merge by profile URL or name + shared employer, never name alone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 Tungsten records merged; no duplicates left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Renamed companies</a:t>
                      </a:r>
                      <a:endParaRPr b="1"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Brief's aliases matched as whole words ("Kofax India Pvt Ltd")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 exclusion violations in the sample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Never used the product</a:t>
                      </a:r>
                      <a:endParaRPr b="1"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Product-specific evidence required; LLM assesses hands-on use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27 Tungsten customer-company candidates rejected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Thin groups padded</a:t>
                      </a:r>
                      <a:endParaRPr b="1"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Only qualified candidates returned; unclear cases flagged for review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Polish planners: 0 returned, 8 for review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75" name="Google Shape;175;p18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HOW IT WORKS · VERIFICATION</a:t>
            </a:r>
            <a:endParaRPr b="1" sz="9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ngsten candidates per group: found by search, read, qualified, returned" id="180" name="Google Shape;18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1397000"/>
            <a:ext cx="5079999" cy="312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Tungsten: 60 experts returned, and all 60 passed hand review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08000" y="11176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Candidates per group at each step, Tungsten run of 11 Oct 2026</a:t>
            </a:r>
            <a:endParaRPr b="1"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5969000" y="902350"/>
            <a:ext cx="2667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60 of 60</a:t>
            </a:r>
            <a:endParaRPr b="1" sz="3400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5969000" y="1559325"/>
            <a:ext cx="266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experts valid on hand review</a:t>
            </a:r>
            <a:endParaRPr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5969000" y="1981575"/>
            <a:ext cx="26670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One reviewer opened every profile and evidence link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0 exclusion violations, 0 duplicates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no recall claimed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b="1"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Search stopped at 25 qualified</a:t>
            </a: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; unread profiles ranked lower, not rejected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60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244 offline tests; 16 borderline kept for review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RESULTS · TUNGSTEN</a:t>
            </a:r>
            <a:endParaRPr b="1" sz="9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508000" y="4533900"/>
            <a:ext cx="5079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Customers found: 77 profiles plus 45 people named on case studies. Qualified = passed the code checks and the LLM judged they meet the brief.</a:t>
            </a:r>
            <a:endParaRPr sz="9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run records its cost and time: Tungsten $0.74 in 5½ minutes, Polish $2.65 in 17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08000" y="1117600"/>
            <a:ext cx="419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API cost per full run, 11 Oct 2026 ($)</a:t>
            </a:r>
            <a:endParaRPr b="1"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080000" y="1219200"/>
            <a:ext cx="1397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$0.74</a:t>
            </a:r>
            <a:endParaRPr b="1" sz="2800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527800" y="1219200"/>
            <a:ext cx="1854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Tungsten · 5m 30s</a:t>
            </a:r>
            <a:endParaRPr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080000" y="1879600"/>
            <a:ext cx="1397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$2.65</a:t>
            </a:r>
            <a:endParaRPr b="1" sz="28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527800" y="1879600"/>
            <a:ext cx="1854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Polish · 16m 35s</a:t>
            </a:r>
            <a:endParaRPr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080000" y="2590800"/>
            <a:ext cx="3302100" cy="19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Polish costs more: it finds organisations first, and the planner group never stops early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Adaptive stopping and conditional paging skip results we don't need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700"/>
              </a:spcBef>
              <a:spcAft>
                <a:spcPts val="70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Measured runs at list prices; totals vary about ±20%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9" name="Google Shape;1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1422400"/>
            <a:ext cx="4190999" cy="31495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RESULTS · COST AND TIME</a:t>
            </a:r>
            <a:endParaRPr b="1" sz="9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Polish brief ran on the same pipeline and exposed one real gap, which the system did not hide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08000" y="1117600"/>
            <a:ext cx="8127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SAME PIPELINE, BRIEF-DRIVEN RULES</a:t>
            </a:r>
            <a:endParaRPr b="1"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207" name="Google Shape;207;p21"/>
          <p:cNvGraphicFramePr/>
          <p:nvPr/>
        </p:nvGraphicFramePr>
        <p:xfrm>
          <a:off x="5080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{1007A2B9-6F1F-495C-935F-9756859421AD}</a:tableStyleId>
              </a:tblPr>
              <a:tblGrid>
                <a:gridCol w="2709325"/>
                <a:gridCol w="2709325"/>
                <a:gridCol w="2709325"/>
              </a:tblGrid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b="1"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Tungsten Automation</a:t>
                      </a:r>
                      <a:endParaRPr b="1"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Polish Rail Freight</a:t>
                      </a:r>
                      <a:endParaRPr b="1"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Search language</a:t>
                      </a:r>
                      <a:endParaRPr b="1"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English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Polish and English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Organisations named</a:t>
                      </a:r>
                      <a:endParaRPr b="1"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Target, alias, competitors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None: discovered first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Exclusions</a:t>
                      </a:r>
                      <a:endParaRPr b="1"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Current and former staff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Current staff only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Groups filled</a:t>
                      </a:r>
                      <a:endParaRPr b="1"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of 3 (60 experts)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4530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of 3 (</a:t>
                      </a:r>
                      <a:r>
                        <a:rPr lang="en" sz="1300">
                          <a:solidFill>
                            <a:srgbClr val="B4530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40 experts</a:t>
                      </a:r>
                      <a:r>
                        <a:rPr lang="en" sz="1300">
                          <a:solidFill>
                            <a:srgbClr val="B4530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sz="1300">
                        <a:solidFill>
                          <a:srgbClr val="B4530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08" name="Google Shape;208;p21"/>
          <p:cNvSpPr/>
          <p:nvPr/>
        </p:nvSpPr>
        <p:spPr>
          <a:xfrm>
            <a:off x="508000" y="3378200"/>
            <a:ext cx="8127900" cy="11685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08000" y="3378200"/>
            <a:ext cx="50700" cy="11685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5800" y="3454400"/>
            <a:ext cx="7746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THE GAP: 0 CONFIDENT INFRASTRUCTURE PLANNERS</a:t>
            </a:r>
            <a:endParaRPr b="1" sz="1200">
              <a:solidFill>
                <a:srgbClr val="B4530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85800" y="3708400"/>
            <a:ext cx="7746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Search found ex-PKP PLK and UTK department heads, but no public profile states a train-path or access-charge remit. 8 went to review rather than onto the list.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685800" y="4241800"/>
            <a:ext cx="7746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Zero confident results is a coverage problem to solve, not a reason to relax the rule.</a:t>
            </a:r>
            <a:endParaRPr b="1" sz="1300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RESULTS · SECOND BRIEF</a:t>
            </a:r>
            <a:endParaRPr b="1" sz="9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Six things that went wrong during the build; each was caught by a live run or a check</a:t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508000" y="1117600"/>
            <a:ext cx="2590800" cy="16764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08000" y="1117600"/>
            <a:ext cx="50700" cy="1676400"/>
          </a:xfrm>
          <a:prstGeom prst="rect">
            <a:avLst/>
          </a:prstGeom>
          <a:solidFill>
            <a:srgbClr val="D97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685800" y="1219200"/>
            <a:ext cx="2336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Brave mangled search operators</a:t>
            </a:r>
            <a:endParaRPr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685800" y="1727200"/>
            <a:ext cx="2336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Live probes showed X-ray filters ignored. Switched to Google via Serper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3276600" y="1117600"/>
            <a:ext cx="2590800" cy="16764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3276600" y="1117600"/>
            <a:ext cx="50700" cy="1676400"/>
          </a:xfrm>
          <a:prstGeom prst="rect">
            <a:avLst/>
          </a:prstGeom>
          <a:solidFill>
            <a:srgbClr val="D97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3454400" y="1219200"/>
            <a:ext cx="2336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Exa ignores "former"</a:t>
            </a:r>
            <a:endParaRPr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3454400" y="1727200"/>
            <a:ext cx="2336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About half its "former" results still worked there. Status now comes from work history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6045200" y="1117600"/>
            <a:ext cx="2590800" cy="16764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6045200" y="1117600"/>
            <a:ext cx="50700" cy="1676400"/>
          </a:xfrm>
          <a:prstGeom prst="rect">
            <a:avLst/>
          </a:prstGeom>
          <a:solidFill>
            <a:srgbClr val="D97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6223000" y="1219200"/>
            <a:ext cx="2336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Ideal titles treated as rules</a:t>
            </a:r>
            <a:endParaRPr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6223000" y="1727200"/>
            <a:ext cx="2336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10 good former employees rejected. Now only hard requirements reject: 1 after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08000" y="2921000"/>
            <a:ext cx="2590800" cy="16764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08000" y="2921000"/>
            <a:ext cx="50700" cy="1676400"/>
          </a:xfrm>
          <a:prstGeom prst="rect">
            <a:avLst/>
          </a:prstGeom>
          <a:solidFill>
            <a:srgbClr val="D97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685800" y="3022600"/>
            <a:ext cx="2336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Early stop counted the wrong thing</a:t>
            </a:r>
            <a:endParaRPr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685800" y="3530600"/>
            <a:ext cx="2336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Date fit stopped "lead" groups early (11 of 41 were leads). Now it counts LLM-qualified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3276600" y="2921000"/>
            <a:ext cx="2590800" cy="16764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3276600" y="2921000"/>
            <a:ext cx="50700" cy="1676400"/>
          </a:xfrm>
          <a:prstGeom prst="rect">
            <a:avLst/>
          </a:prstGeom>
          <a:solidFill>
            <a:srgbClr val="D97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3454400" y="3022600"/>
            <a:ext cx="2336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 loose profile match</a:t>
            </a:r>
            <a:endParaRPr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454400" y="3530600"/>
            <a:ext cx="2336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"Rail Polska" matched "DB Schenker Rail Polska". Now exact employer, single match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6045200" y="2921000"/>
            <a:ext cx="2590800" cy="16764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045200" y="2921000"/>
            <a:ext cx="50700" cy="1676400"/>
          </a:xfrm>
          <a:prstGeom prst="rect">
            <a:avLst/>
          </a:prstGeom>
          <a:solidFill>
            <a:srgbClr val="D97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6223000" y="3022600"/>
            <a:ext cx="2336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Runs degraded silently</a:t>
            </a:r>
            <a:endParaRPr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6223000" y="3530600"/>
            <a:ext cx="2336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Credits ran out twice; rate limits lost 16 pages. Now quota errors stop the run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WHAT WENT WRONG</a:t>
            </a:r>
            <a:endParaRPr b="1" sz="9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/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 learned and what comes next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508000" y="1193800"/>
            <a:ext cx="25908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508000" y="1346200"/>
            <a:ext cx="25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LESSONS</a:t>
            </a:r>
            <a:endParaRPr b="1" sz="1200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508000" y="1676400"/>
            <a:ext cx="25908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Keep hard rules deterministic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Search until enough people qualify, not until results run out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Send thin evidence to a human; never pad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3276600" y="1193800"/>
            <a:ext cx="25908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3276600" y="1346200"/>
            <a:ext cx="25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NEXT</a:t>
            </a:r>
            <a:endParaRPr b="1" sz="1200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3276600" y="1676400"/>
            <a:ext cx="25908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Label the Polish results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Add a second reviewer to measure agreement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Improve discovery for sparse groups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Try </a:t>
            </a:r>
            <a:r>
              <a:rPr b="1"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Jev</a:t>
            </a: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 for sub-second verdicts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6045200" y="1193800"/>
            <a:ext cx="25908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6045200" y="1346200"/>
            <a:ext cx="25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AT VOLUME</a:t>
            </a:r>
            <a:endParaRPr b="1" sz="1200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6045200" y="1676400"/>
            <a:ext cx="25908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Cache pages and searches with an expiry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Learn from reviewer rejections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Monitor quality and cost per brief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508000" y="3810000"/>
            <a:ext cx="7874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The deliverable is not just a list of people. It is a sourcing process whose results, decisions, costs and limits can all be inspected.</a:t>
            </a:r>
            <a:endParaRPr b="1" sz="1600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9" name="Google Shape;259;p23"/>
          <p:cNvCxnSpPr/>
          <p:nvPr/>
        </p:nvCxnSpPr>
        <p:spPr>
          <a:xfrm>
            <a:off x="508000" y="3683000"/>
            <a:ext cx="8127900" cy="0"/>
          </a:xfrm>
          <a:prstGeom prst="straightConnector1">
            <a:avLst/>
          </a:prstGeom>
          <a:noFill/>
          <a:ln cap="flat" cmpd="sng" w="12700">
            <a:solidFill>
              <a:srgbClr val="DCDC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23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WHAT COMES NEXT</a:t>
            </a:r>
            <a:endParaRPr b="1" sz="9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>
            <p:ph type="ctrTitle"/>
          </p:nvPr>
        </p:nvSpPr>
        <p:spPr>
          <a:xfrm>
            <a:off x="508000" y="1524000"/>
            <a:ext cx="81279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Thank you</a:t>
            </a:r>
            <a:endParaRPr sz="4000"/>
          </a:p>
        </p:txBody>
      </p:sp>
      <p:sp>
        <p:nvSpPr>
          <p:cNvPr id="266" name="Google Shape;266;p24"/>
          <p:cNvSpPr txBox="1"/>
          <p:nvPr>
            <p:ph idx="1" type="subTitle"/>
          </p:nvPr>
        </p:nvSpPr>
        <p:spPr>
          <a:xfrm>
            <a:off x="508000" y="2540000"/>
            <a:ext cx="81279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800">
                <a:solidFill>
                  <a:srgbClr val="1B1F24"/>
                </a:solidFill>
              </a:rPr>
              <a:t>Questions on the design and results</a:t>
            </a:r>
            <a:endParaRPr sz="1300"/>
          </a:p>
        </p:txBody>
      </p:sp>
      <p:sp>
        <p:nvSpPr>
          <p:cNvPr id="267" name="Google Shape;267;p24"/>
          <p:cNvSpPr/>
          <p:nvPr/>
        </p:nvSpPr>
        <p:spPr>
          <a:xfrm>
            <a:off x="508000" y="1371600"/>
            <a:ext cx="1016100" cy="636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Custom">
      <a:dk1>
        <a:srgbClr val="1B1F24"/>
      </a:dk1>
      <a:lt1>
        <a:srgbClr val="FFFFFF"/>
      </a:lt1>
      <a:dk2>
        <a:srgbClr val="5A6270"/>
      </a:dk2>
      <a:lt2>
        <a:srgbClr val="F2F3EF"/>
      </a:lt2>
      <a:accent1>
        <a:srgbClr val="0E7C66"/>
      </a:accent1>
      <a:accent2>
        <a:srgbClr val="D97A2B"/>
      </a:accent2>
      <a:accent3>
        <a:srgbClr val="2F4858"/>
      </a:accent3>
      <a:accent4>
        <a:srgbClr val="7FA99B"/>
      </a:accent4>
      <a:accent5>
        <a:srgbClr val="C9D6CF"/>
      </a:accent5>
      <a:accent6>
        <a:srgbClr val="B0892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