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353DBA-E630-4A2C-98AB-7D451C997E7B}">
  <a:tblStyle styleId="{B5353DBA-E630-4A2C-98AB-7D451C997E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10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SLIDES_API185504233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SLIDES_API185504233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S_API76416308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S_API76416308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S_API764163085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S_API764163085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SLIDES_API764163085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SLIDES_API764163085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LIDES_API31507545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LIDES_API31507545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SLIDES_API202132706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SLIDES_API202132706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SLIDES_API2021327066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SLIDES_API2021327066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SLIDES_API31507545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SLIDES_API31507545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SLIDES_API31507545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SLIDES_API31507545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SLIDES_API31507545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SLIDES_API31507545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SLIDES_API18041570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SLIDES_API18041570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800"/>
              <a:buNone/>
              <a:defRPr sz="2800">
                <a:solidFill>
                  <a:srgbClr val="5A6270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400"/>
              <a:buChar char="●"/>
              <a:defRPr sz="1400">
                <a:solidFill>
                  <a:srgbClr val="5A6270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400"/>
              <a:buChar char="●"/>
              <a:defRPr sz="1400">
                <a:solidFill>
                  <a:srgbClr val="5A6270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●"/>
              <a:defRPr sz="1200">
                <a:solidFill>
                  <a:srgbClr val="5A6270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○"/>
              <a:defRPr sz="1200">
                <a:solidFill>
                  <a:srgbClr val="5A6270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200"/>
              <a:buChar char="■"/>
              <a:defRPr sz="1200">
                <a:solidFill>
                  <a:srgbClr val="5A6270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2100"/>
              <a:buNone/>
              <a:defRPr sz="2100">
                <a:solidFill>
                  <a:srgbClr val="5A627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●"/>
              <a:defRPr>
                <a:solidFill>
                  <a:srgbClr val="5A6270"/>
                </a:solidFill>
              </a:defRPr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○"/>
              <a:defRPr>
                <a:solidFill>
                  <a:srgbClr val="5A6270"/>
                </a:solidFill>
              </a:defRPr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1600"/>
              <a:buChar char="■"/>
              <a:defRPr>
                <a:solidFill>
                  <a:srgbClr val="5A6270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2600"/>
              <a:buFont typeface="Inter"/>
              <a:buNone/>
              <a:defRPr sz="2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●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○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■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●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○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■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●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○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Inter"/>
              <a:buChar char="■"/>
              <a:defRPr sz="16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508000" y="114300"/>
            <a:ext cx="4572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0" y="5092700"/>
            <a:ext cx="91440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508000" y="1524000"/>
            <a:ext cx="8127900" cy="8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External Sourcing Agent</a:t>
            </a:r>
            <a:endParaRPr sz="400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508000" y="2540000"/>
            <a:ext cx="8127900" cy="8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1F24"/>
                </a:solidFill>
              </a:rPr>
              <a:t>Finding people is easy. Defending why they qualify is the engineering problem.</a:t>
            </a:r>
            <a:endParaRPr sz="1800">
              <a:solidFill>
                <a:srgbClr val="1B1F24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" sz="1300"/>
              <a:t>Data Engineer take-home · Tungsten Automation and Polish Rail Freight briefs</a:t>
            </a:r>
            <a:endParaRPr sz="1300"/>
          </a:p>
        </p:txBody>
      </p:sp>
      <p:sp>
        <p:nvSpPr>
          <p:cNvPr id="58" name="Google Shape;58;p13"/>
          <p:cNvSpPr/>
          <p:nvPr/>
        </p:nvSpPr>
        <p:spPr>
          <a:xfrm>
            <a:off x="508000" y="1371600"/>
            <a:ext cx="1016100" cy="636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finds hundreds of plausible profiles; proving which ones qualify is the work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508000" y="11938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TODAY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08000" y="1473200"/>
            <a:ext cx="3683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About half the experts on client calls are not in our database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700"/>
              </a:spcBef>
              <a:spcAft>
                <a:spcPts val="7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Researchers find them by hand on LinkedIn, late in the project, one search at a time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08000" y="28194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EVERY EXPERT RETURNED NEEDS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08000" y="3098800"/>
            <a:ext cx="3683100" cy="1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relevant role and company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5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public profile we can open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5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Evidence for why they fit the brief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500"/>
              </a:spcBef>
              <a:spcAft>
                <a:spcPts val="5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No excluded or ineligible employer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699000" y="11938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TUNGSTEN RUN: FROM SEARCH HIT TO SHORTLIST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699000" y="1549400"/>
            <a:ext cx="116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294</a:t>
            </a:r>
            <a:endParaRPr sz="30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867400" y="15494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candidates found by search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749800" y="2108200"/>
            <a:ext cx="3632100" cy="126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699000" y="2463800"/>
            <a:ext cx="116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116</a:t>
            </a:r>
            <a:endParaRPr sz="30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867400" y="24638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passed verification in code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749800" y="3022600"/>
            <a:ext cx="1433100" cy="126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4699000" y="3378200"/>
            <a:ext cx="116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endParaRPr sz="30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867400" y="3378200"/>
            <a:ext cx="25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returned, 20 per group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749800" y="3937000"/>
            <a:ext cx="741300" cy="1269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699000" y="4241800"/>
            <a:ext cx="3683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6 in 10 candidates that search finds fail the rules. Returning them would put ineligible people in front of a client.</a:t>
            </a:r>
            <a:endParaRPr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Approach: hard rules run in code; the LLM judges only what code cannot</a:t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508000" y="1219200"/>
            <a:ext cx="3962400" cy="26163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508000" y="1219200"/>
            <a:ext cx="3962400" cy="50700"/>
          </a:xfrm>
          <a:prstGeom prst="rect">
            <a:avLst/>
          </a:prstGeom>
          <a:solidFill>
            <a:srgbClr val="8A92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685800" y="13716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DECIDES: TESTABLE, SAME EVERY RUN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685800" y="1676400"/>
            <a:ext cx="3683100" cy="21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Employment dates and departure windows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Exclusions, including the former name Kofax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Organisation matching ("Kofax India Pvt Ltd" counts as Kofax)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Merging the same person across sources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70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Work history parsed from structured profile data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4673600" y="1219200"/>
            <a:ext cx="3962400" cy="26163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673600" y="1219200"/>
            <a:ext cx="39624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851400" y="1371600"/>
            <a:ext cx="36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THE LLM JUDGES (CLAUDE)</a:t>
            </a:r>
            <a:endParaRPr sz="12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851400" y="1676400"/>
            <a:ext cx="3683100" cy="21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Reads the brief into rules, each quoting the brief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Writes role words and discovery queries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Reads relevant pages for named people and customers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Checks requirements code cannot ("a product leader")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700"/>
              </a:spcAft>
              <a:buClr>
                <a:srgbClr val="1B1F24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Scores fit and writes the reason, citing evidence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508000" y="3962400"/>
            <a:ext cx="81279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hard rule rejects, and no score can rescue it:</a:t>
            </a: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 still at Tungsten or Kofax, left under 6 months ago, founder or C-level at a competitor. </a:t>
            </a: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preference only changes the score:</a:t>
            </a: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 ideal titles, "ideally 8+ years".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APPROACH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Discovery: the brief decides between two search strategies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APPROACH · DISCOVERY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08000" y="1219200"/>
            <a:ext cx="3962400" cy="30861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508000" y="1219200"/>
            <a:ext cx="39624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635000" y="1371600"/>
            <a:ext cx="3708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1  People first</a:t>
            </a:r>
            <a:endParaRPr sz="16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635000" y="17272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WHEN</a:t>
            </a:r>
            <a:endParaRPr sz="10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35000" y="1930400"/>
            <a:ext cx="37083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The brief names the organisations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35000" y="22860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endParaRPr sz="10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35000" y="2489200"/>
            <a:ext cx="3708300" cy="10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Google LinkedIn X-rays at each named organisation, sliced by departure quarter and job function, since each search returns about 10 profiles. Exa tops up short groups.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635000" y="36322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USED FOR</a:t>
            </a:r>
            <a:endParaRPr sz="10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635000" y="3835400"/>
            <a:ext cx="37083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Tungsten: former employees, competitors</a:t>
            </a:r>
            <a:endParaRPr sz="13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673600" y="1219200"/>
            <a:ext cx="3962400" cy="31497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673600" y="1219200"/>
            <a:ext cx="39624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4800600" y="1371600"/>
            <a:ext cx="3708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2  Companies, then people</a:t>
            </a:r>
            <a:endParaRPr sz="16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4800600" y="17272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WHEN</a:t>
            </a:r>
            <a:endParaRPr sz="10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800600" y="1930400"/>
            <a:ext cx="37083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No organisations named in the brief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800600" y="22860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endParaRPr sz="10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4800600" y="2489200"/>
            <a:ext cx="3708300" cy="10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Find organisations first in case studies, press releases and registers, each with a quote that code checks. Then one X-ray per organisation, in batches of 10, until the group has enough.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4800600" y="3632200"/>
            <a:ext cx="3708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USED FOR</a:t>
            </a:r>
            <a:endParaRPr sz="10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4841550" y="3801275"/>
            <a:ext cx="37083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Tungsten: customers</a:t>
            </a:r>
            <a:endParaRPr sz="13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Polish rail: all three groups</a:t>
            </a:r>
            <a:endParaRPr sz="13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08000" y="4368800"/>
            <a:ext cx="7874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Both stop once a group has X qualified candidates: </a:t>
            </a: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ample gro</a:t>
            </a:r>
            <a:r>
              <a:rPr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ups stay cheap, thin groups keep searching. The parsed brief picks the strategy, so no brief needs its own code.</a:t>
            </a:r>
            <a:endParaRPr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Nine stages: code enforces the rules, the LLM reads language, and every stage can be inspected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08000" y="1143000"/>
            <a:ext cx="2489100" cy="30987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635000" y="1244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UNDERSTAND THE BRIEF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09600" y="1600200"/>
            <a:ext cx="279300" cy="2793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939800" y="15748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Brief parsing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Groups, aliases, date windows, each quoted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09600" y="2260600"/>
            <a:ext cx="279300" cy="2793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939800" y="22352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Query generation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templates plus LLM role words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048000" y="2527300"/>
            <a:ext cx="228600" cy="33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1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327400" y="1143000"/>
            <a:ext cx="2489100" cy="30987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454400" y="1244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FIND PEOPLE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429000" y="16002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759200" y="15748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Search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Google (Serper) and Exa in parallel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429000" y="2260600"/>
            <a:ext cx="279300" cy="2793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3759200" y="22352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Extract candidates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parses profiles; LLM reads pages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429000" y="29210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759200" y="28956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People per company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One X-ray per customer or operator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3429000" y="35814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3759200" y="35560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Profile lookup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Name and employer must both match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867400" y="2527300"/>
            <a:ext cx="228600" cy="33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1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146800" y="1143000"/>
            <a:ext cx="2489100" cy="30987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6273800" y="12446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DECIDE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248400" y="16002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578600" y="15748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Entity resolution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A name alone never merges two people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248400" y="2260600"/>
            <a:ext cx="279300" cy="2793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578600" y="22352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Verification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only: dates, exclusions, roles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248400" y="2921000"/>
            <a:ext cx="279300" cy="2793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578600" y="28956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Ranking</a:t>
            </a:r>
            <a:endParaRPr sz="13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1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LLM judges fit; code weights, top 20</a:t>
            </a:r>
            <a:endParaRPr sz="11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08000" y="4318000"/>
            <a:ext cx="5918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Every stage's file is a resume point: fix the rules, queries or customer list without paying again.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629400" y="4381500"/>
            <a:ext cx="126900" cy="1269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832600" y="4318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LLM involved</a:t>
            </a:r>
            <a:endParaRPr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629400" y="4597400"/>
            <a:ext cx="126900" cy="12690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832600" y="4546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Code only</a:t>
            </a:r>
            <a:endParaRPr sz="12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58800" y="16002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58800" y="22606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3378200" y="16002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3378200" y="22606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3378200" y="29210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3378200" y="35814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197600" y="16002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6197600" y="22606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197600" y="2921000"/>
            <a:ext cx="381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HOW IT WORKS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95700" cy="5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way the pipeline could lie to us has a guard</a:t>
            </a:r>
            <a:endParaRPr/>
          </a:p>
        </p:txBody>
      </p:sp>
      <p:graphicFrame>
        <p:nvGraphicFramePr>
          <p:cNvPr id="171" name="Google Shape;171;p18"/>
          <p:cNvGraphicFramePr/>
          <p:nvPr/>
        </p:nvGraphicFramePr>
        <p:xfrm>
          <a:off x="508000" y="79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{B5353DBA-E630-4A2C-98AB-7D451C997E7B}</a:tableStyleId>
              </a:tblPr>
              <a:tblGrid>
                <a:gridCol w="217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5A627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</a:t>
                      </a:r>
                      <a:endParaRPr sz="1200" b="1">
                        <a:solidFill>
                          <a:srgbClr val="5A627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5A627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Guard</a:t>
                      </a:r>
                      <a:endParaRPr sz="1200" b="1">
                        <a:solidFill>
                          <a:srgbClr val="5A627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5A627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it was checked</a:t>
                      </a:r>
                      <a:endParaRPr sz="1200" b="1">
                        <a:solidFill>
                          <a:srgbClr val="5A627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Made-up people</a:t>
                      </a:r>
                      <a:endParaRPr sz="12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 search hits; names and quotes verified against source text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Code-level quote verification; reviewer opened every sample link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Stale roles</a:t>
                      </a:r>
                      <a:endParaRPr sz="12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Dated work history; conflicting current-role signals checked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Tests cover stale headlines and employment-window boundaries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Name collisions</a:t>
                      </a:r>
                      <a:endParaRPr sz="12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Merge by profile URL or name + shared employer, never name alone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 Tungsten records merged; no duplicates left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Renamed companies</a:t>
                      </a:r>
                      <a:endParaRPr sz="12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Brief's aliases matched as whole words ("Kofax India Pvt Ltd")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exclusion violations in the sample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Never used the product</a:t>
                      </a:r>
                      <a:endParaRPr sz="12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Product-specific evidence required; Haiku assesses hands-on use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27 Tungsten customer-company candidates rejected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Thin groups padded</a:t>
                      </a:r>
                      <a:endParaRPr sz="12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Only qualified candidates returned; unclear cases flagged for review 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Polish planners: 0 returned, 8 for review</a:t>
                      </a:r>
                      <a:endParaRPr sz="12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2" name="Google Shape;172;p18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HOW IT WORKS · VERIFICATION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Tungsten candidates per group: found by search, read, qualified, return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397000"/>
            <a:ext cx="5079999" cy="312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Tungsten: 60 experts returned, and all 60 passed hand review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08000" y="11176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Candidates per group at each step, Tungsten run of 11 Oct 2026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969000" y="902350"/>
            <a:ext cx="266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60 of 60</a:t>
            </a:r>
            <a:endParaRPr sz="34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969000" y="1559325"/>
            <a:ext cx="2667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experts valid on hand review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969000" y="1981575"/>
            <a:ext cx="2667000" cy="24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One reviewer opened every profile and evidence link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0 exclusion violations, 0 duplicates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no recall claimed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Search stopped at 25 qualified</a:t>
            </a: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; unread profiles ranked lower, not rejected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60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244 offline tests; 16 borderline kept for review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RESULTS · TUNGSTEN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08000" y="4533900"/>
            <a:ext cx="50799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Customers found: 77 profiles plus 45 people named on case studies. Qualified = passed the code checks and the LLM judged they meet the brief.</a:t>
            </a:r>
            <a:endParaRPr sz="900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run records its cost and time: Tungsten $0.74 in 5½ minutes, Polish $2.65 in 17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08000" y="1117600"/>
            <a:ext cx="4191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API cost per full run, 11 Oct 2026 ($)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080000" y="1219200"/>
            <a:ext cx="1397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$0.74</a:t>
            </a:r>
            <a:endParaRPr sz="28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527800" y="1219200"/>
            <a:ext cx="1854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Tungsten · 5m 30s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080000" y="1879600"/>
            <a:ext cx="1397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$2.65</a:t>
            </a:r>
            <a:endParaRPr sz="2800"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527800" y="1879600"/>
            <a:ext cx="1854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Polish · 16m 35s</a:t>
            </a:r>
            <a:endParaRPr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080000" y="2590800"/>
            <a:ext cx="3302100" cy="19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Polish costs more: it finds organisations first, and the planner group never stops early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spcBef>
                <a:spcPts val="70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Adaptive stopping and conditional paging skip results we don't need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spcBef>
                <a:spcPts val="700"/>
              </a:spcBef>
              <a:spcAft>
                <a:spcPts val="700"/>
              </a:spcAft>
              <a:buClr>
                <a:srgbClr val="1B1F24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Measured runs at list prices; totals vary about ±20%</a:t>
            </a:r>
            <a:endParaRPr sz="13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422400"/>
            <a:ext cx="4190999" cy="314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RESULTS · COST AND TIME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Polish brief ran on the same pipeline and exposed one real gap, which the system did not hide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08000" y="1117600"/>
            <a:ext cx="8127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SAME PIPELINE, BRIEF-DRIVEN RULES</a:t>
            </a:r>
            <a:endParaRPr sz="12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508000" y="13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{B5353DBA-E630-4A2C-98AB-7D451C997E7B}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3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Tungsten Automation</a:t>
                      </a:r>
                      <a:endParaRPr sz="13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Polish Rail Freight</a:t>
                      </a:r>
                      <a:endParaRPr sz="13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Search language</a:t>
                      </a:r>
                      <a:endParaRPr sz="13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English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Polish and English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Organisations named</a:t>
                      </a:r>
                      <a:endParaRPr sz="13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Target, alias, competitors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None: discovered first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Exclusions</a:t>
                      </a:r>
                      <a:endParaRPr sz="13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Current and former staff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Current staff only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Groups filled</a:t>
                      </a:r>
                      <a:endParaRPr sz="1300" b="1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B1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of 3 (60 experts)</a:t>
                      </a:r>
                      <a:endParaRPr sz="1300">
                        <a:solidFill>
                          <a:srgbClr val="1B1F2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of 3 (40 experts)</a:t>
                      </a:r>
                      <a:endParaRPr sz="1300">
                        <a:solidFill>
                          <a:srgbClr val="B4530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5" name="Google Shape;205;p21"/>
          <p:cNvSpPr/>
          <p:nvPr/>
        </p:nvSpPr>
        <p:spPr>
          <a:xfrm>
            <a:off x="508000" y="3378200"/>
            <a:ext cx="8127900" cy="11685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08000" y="3378200"/>
            <a:ext cx="50700" cy="11685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85800" y="3454400"/>
            <a:ext cx="774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THE GAP: 0 CONFIDENT INFRASTRUCTURE PLANNERS</a:t>
            </a:r>
            <a:endParaRPr sz="1200" b="1">
              <a:solidFill>
                <a:srgbClr val="B4530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85800" y="3708400"/>
            <a:ext cx="7746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Search found ex-PKP PLK and UTK department heads, but no public profile states a train-path or access-charge remit. 8 went to review rather than onto the list.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85800" y="4241800"/>
            <a:ext cx="774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Zero confident results is a coverage problem to solve, not a reason to relax the rule.</a:t>
            </a:r>
            <a:endParaRPr sz="13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RESULTS · SECOND BRIEF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things that went wrong during the build; each was caught by a live run or a check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08000" y="11176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08000" y="11176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685800" y="12192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Brave mangled search operators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85800" y="17272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Live probes showed X-ray filters ignored. Switched to Google via Serper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3276600" y="11176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276600" y="11176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3454400" y="12192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Exa ignores "former"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3454400" y="17272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About half its "former" results still worked there. Status now comes from work history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045200" y="11176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045200" y="11176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6223000" y="12192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Ideal titles treated as rules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6223000" y="17272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10 good former employees rejected. Now only hard requirements reject: 1 after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08000" y="29210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08000" y="29210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85800" y="30226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Early stop counted the wrong thing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685800" y="35306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Date fit stopped "lead" groups early (11 of 41 were leads). Now it counts LLM-qualified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3276600" y="29210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276600" y="29210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3454400" y="30226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 loose profile match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3454400" y="35306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"Rail Polska" matched "DB Schenker Rail Polska". Now exact employer, single match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6045200" y="2921000"/>
            <a:ext cx="2590800" cy="1676400"/>
          </a:xfrm>
          <a:prstGeom prst="rect">
            <a:avLst/>
          </a:prstGeom>
          <a:solidFill>
            <a:srgbClr val="F2F3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045200" y="2921000"/>
            <a:ext cx="50700" cy="1676400"/>
          </a:xfrm>
          <a:prstGeom prst="rect">
            <a:avLst/>
          </a:prstGeom>
          <a:solidFill>
            <a:srgbClr val="D97A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6223000" y="3022600"/>
            <a:ext cx="2336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Runs degraded silently</a:t>
            </a:r>
            <a:endParaRPr b="1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6223000" y="3530600"/>
            <a:ext cx="233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Credits ran out twice; rate limits lost 16 pages. Now quota errors stop the run</a:t>
            </a:r>
            <a:endParaRPr sz="120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WHAT WENT WRONG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>
            <a:spLocks noGrp="1"/>
          </p:cNvSpPr>
          <p:nvPr>
            <p:ph type="title"/>
          </p:nvPr>
        </p:nvSpPr>
        <p:spPr>
          <a:xfrm>
            <a:off x="508000" y="228600"/>
            <a:ext cx="8127900" cy="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 learned and what comes next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08000" y="1193800"/>
            <a:ext cx="25908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508000" y="1346200"/>
            <a:ext cx="2590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LESSONS</a:t>
            </a:r>
            <a:endParaRPr sz="12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508000" y="1676400"/>
            <a:ext cx="25908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Keep hard rules deterministic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Search until enough people qualify, not until results run out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Send thin evidence to a human; never pad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276600" y="1193800"/>
            <a:ext cx="25908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3276600" y="1346200"/>
            <a:ext cx="2590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NEXT</a:t>
            </a:r>
            <a:endParaRPr sz="12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3276600" y="1676400"/>
            <a:ext cx="25908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Label the Polish results</a:t>
            </a:r>
            <a:endParaRPr dirty="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Add a second reviewer to measure agreement</a:t>
            </a:r>
            <a:endParaRPr dirty="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Improve discovery for sparse groups</a:t>
            </a:r>
            <a:endParaRPr dirty="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Try </a:t>
            </a:r>
            <a:r>
              <a:rPr lang="en" b="1" dirty="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Jev</a:t>
            </a:r>
            <a:r>
              <a:rPr lang="en" dirty="0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 for sub-second verdicts</a:t>
            </a:r>
            <a:endParaRPr dirty="0"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6045200" y="1193800"/>
            <a:ext cx="2590800" cy="507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6045200" y="1346200"/>
            <a:ext cx="2590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AT VOLUME</a:t>
            </a:r>
            <a:endParaRPr sz="1200" b="1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6045200" y="1676400"/>
            <a:ext cx="25908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Cache pages and searches with an expiry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Learn from reviewer rejections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rgbClr val="1B1F24"/>
              </a:buClr>
              <a:buSzPts val="1400"/>
              <a:buFont typeface="Inter"/>
              <a:buChar char="●"/>
            </a:pPr>
            <a:r>
              <a:rPr lang="en">
                <a:solidFill>
                  <a:srgbClr val="1B1F24"/>
                </a:solidFill>
                <a:latin typeface="Inter"/>
                <a:ea typeface="Inter"/>
                <a:cs typeface="Inter"/>
                <a:sym typeface="Inter"/>
              </a:rPr>
              <a:t>Monitor quality and cost per brief</a:t>
            </a:r>
            <a:endParaRPr>
              <a:solidFill>
                <a:srgbClr val="1B1F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508000" y="4102199"/>
            <a:ext cx="78741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E7C66"/>
                </a:solidFill>
                <a:latin typeface="Inter"/>
                <a:ea typeface="Inter"/>
                <a:cs typeface="Inter"/>
                <a:sym typeface="Inter"/>
              </a:rPr>
              <a:t>The deliverable is not just a list of people. It is a sourcing process whose results, decisions, costs and limits can all be inspected.</a:t>
            </a:r>
            <a:endParaRPr sz="1600" b="1" dirty="0">
              <a:solidFill>
                <a:srgbClr val="0E7C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6" name="Google Shape;256;p23"/>
          <p:cNvCxnSpPr/>
          <p:nvPr/>
        </p:nvCxnSpPr>
        <p:spPr>
          <a:xfrm>
            <a:off x="508000" y="4110237"/>
            <a:ext cx="8127900" cy="0"/>
          </a:xfrm>
          <a:prstGeom prst="straightConnector1">
            <a:avLst/>
          </a:prstGeom>
          <a:noFill/>
          <a:ln w="12700" cap="flat" cmpd="sng">
            <a:solidFill>
              <a:srgbClr val="DCDC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23"/>
          <p:cNvSpPr txBox="1"/>
          <p:nvPr/>
        </p:nvSpPr>
        <p:spPr>
          <a:xfrm>
            <a:off x="508000" y="4864100"/>
            <a:ext cx="584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A6270"/>
                </a:solidFill>
                <a:latin typeface="Inter"/>
                <a:ea typeface="Inter"/>
                <a:cs typeface="Inter"/>
                <a:sym typeface="Inter"/>
              </a:rPr>
              <a:t>WHAT COMES NEXT</a:t>
            </a:r>
            <a:endParaRPr sz="900" b="1">
              <a:solidFill>
                <a:srgbClr val="5A627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>
            <a:spLocks noGrp="1"/>
          </p:cNvSpPr>
          <p:nvPr>
            <p:ph type="ctrTitle"/>
          </p:nvPr>
        </p:nvSpPr>
        <p:spPr>
          <a:xfrm>
            <a:off x="508000" y="1524000"/>
            <a:ext cx="8127900" cy="8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 you</a:t>
            </a:r>
            <a:endParaRPr sz="4000"/>
          </a:p>
        </p:txBody>
      </p:sp>
      <p:sp>
        <p:nvSpPr>
          <p:cNvPr id="263" name="Google Shape;263;p24"/>
          <p:cNvSpPr txBox="1">
            <a:spLocks noGrp="1"/>
          </p:cNvSpPr>
          <p:nvPr>
            <p:ph type="subTitle" idx="1"/>
          </p:nvPr>
        </p:nvSpPr>
        <p:spPr>
          <a:xfrm>
            <a:off x="508000" y="2540000"/>
            <a:ext cx="8127900" cy="8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800">
                <a:solidFill>
                  <a:srgbClr val="1B1F24"/>
                </a:solidFill>
              </a:rPr>
              <a:t>Questions on the design and results</a:t>
            </a:r>
            <a:endParaRPr sz="1300"/>
          </a:p>
        </p:txBody>
      </p:sp>
      <p:sp>
        <p:nvSpPr>
          <p:cNvPr id="264" name="Google Shape;264;p24"/>
          <p:cNvSpPr/>
          <p:nvPr/>
        </p:nvSpPr>
        <p:spPr>
          <a:xfrm>
            <a:off x="508000" y="1371600"/>
            <a:ext cx="1016100" cy="636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Custom">
      <a:dk1>
        <a:srgbClr val="1B1F24"/>
      </a:dk1>
      <a:lt1>
        <a:srgbClr val="FFFFFF"/>
      </a:lt1>
      <a:dk2>
        <a:srgbClr val="5A6270"/>
      </a:dk2>
      <a:lt2>
        <a:srgbClr val="F2F3EF"/>
      </a:lt2>
      <a:accent1>
        <a:srgbClr val="0E7C66"/>
      </a:accent1>
      <a:accent2>
        <a:srgbClr val="D97A2B"/>
      </a:accent2>
      <a:accent3>
        <a:srgbClr val="2F4858"/>
      </a:accent3>
      <a:accent4>
        <a:srgbClr val="7FA99B"/>
      </a:accent4>
      <a:accent5>
        <a:srgbClr val="C9D6CF"/>
      </a:accent5>
      <a:accent6>
        <a:srgbClr val="B0892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1324</Words>
  <Application>Microsoft Office PowerPoint</Application>
  <PresentationFormat>On-screen Show (16:9)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Simple Light</vt:lpstr>
      <vt:lpstr>External Sourcing Agent</vt:lpstr>
      <vt:lpstr>Search finds hundreds of plausible profiles; proving which ones qualify is the work</vt:lpstr>
      <vt:lpstr>Approach: hard rules run in code; the LLM judges only what code cannot</vt:lpstr>
      <vt:lpstr>Discovery: the brief decides between two search strategies</vt:lpstr>
      <vt:lpstr>Nine stages: code enforces the rules, the LLM reads language, and every stage can be inspected</vt:lpstr>
      <vt:lpstr>Each way the pipeline could lie to us has a guard</vt:lpstr>
      <vt:lpstr>Tungsten: 60 experts returned, and all 60 passed hand review</vt:lpstr>
      <vt:lpstr>Every run records its cost and time: Tungsten $0.74 in 5½ minutes, Polish $2.65 in 17</vt:lpstr>
      <vt:lpstr>The Polish brief ran on the same pipeline and exposed one real gap, which the system did not hide</vt:lpstr>
      <vt:lpstr>Six things that went wrong during the build; each was caught by a live run or a check</vt:lpstr>
      <vt:lpstr>What I learned and what comes next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Ebad Malik</cp:lastModifiedBy>
  <cp:revision>1</cp:revision>
  <dcterms:modified xsi:type="dcterms:W3CDTF">2026-10-13T17:03:20Z</dcterms:modified>
</cp:coreProperties>
</file>